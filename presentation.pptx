
<file path=[Content_Types].xml><?xml version="1.0" encoding="utf-8"?>
<Types xmlns="http://schemas.openxmlformats.org/package/2006/content-types">
  <Default Extension="jpg" ContentType="image/jpeg"/>
  <Default Extension="photo-1526374965328-7f61d4dc18c5" ContentType="image/photo-1526374965328-7f61d4dc18c5"/>
  <Default Extension="photo-1550751827-4bd374c3f58b" ContentType="image/photo-1550751827-4bd374c3f58b"/>
  <Default Extension="photo-1563206767-5b18f218e8de" ContentType="image/photo-1563206767-5b18f218e8de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72" r:id="rId6"/>
    <p:sldId id="273" r:id="rId7"/>
    <p:sldId id="260" r:id="rId8"/>
    <p:sldId id="274" r:id="rId9"/>
    <p:sldId id="261" r:id="rId10"/>
    <p:sldId id="262" r:id="rId11"/>
    <p:sldId id="275" r:id="rId12"/>
    <p:sldId id="276" r:id="rId13"/>
    <p:sldId id="263" r:id="rId14"/>
    <p:sldId id="264" r:id="rId15"/>
    <p:sldId id="265" r:id="rId16"/>
    <p:sldId id="266" r:id="rId17"/>
    <p:sldId id="268" r:id="rId18"/>
    <p:sldId id="267" r:id="rId19"/>
    <p:sldId id="269" r:id="rId20"/>
    <p:sldId id="270" r:id="rId2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6" autoAdjust="0"/>
    <p:restoredTop sz="94610"/>
  </p:normalViewPr>
  <p:slideViewPr>
    <p:cSldViewPr snapToGrid="0" snapToObjects="1">
      <p:cViewPr>
        <p:scale>
          <a:sx n="125" d="100"/>
          <a:sy n="125" d="100"/>
        </p:scale>
        <p:origin x="588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287395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EB5837-680B-1921-73FF-8624E2637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2113357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06C83-0D6A-DB14-DB6E-0F54B564E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E43695-9FB8-7706-B94A-F6A36CA824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6ADDE9-772C-E925-04EB-1A280BB0E0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400DCD-E971-5D29-1300-D2E8202D42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80828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B0536-B995-813E-F590-1216130E7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1AD0B5-101C-092B-0C01-1A166618E8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BB9978-A375-529C-1B58-F4BF6F0D5C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67B180-62D8-5669-3FC4-57670B0D68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864971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hoto-1526374965328-7f61d4dc18c5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hoto-1563206767-5b18f218e8de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jpg"/><Relationship Id="rId5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7" Type="http://schemas.openxmlformats.org/officeDocument/2006/relationships/image" Target="../media/image11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jpg"/><Relationship Id="rId5" Type="http://schemas.openxmlformats.org/officeDocument/2006/relationships/image" Target="../media/image9.jpg"/><Relationship Id="rId4" Type="http://schemas.openxmlformats.org/officeDocument/2006/relationships/image" Target="../media/image8.jp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jpg"/><Relationship Id="rId5" Type="http://schemas.openxmlformats.org/officeDocument/2006/relationships/image" Target="../media/image14.jpg"/><Relationship Id="rId4" Type="http://schemas.openxmlformats.org/officeDocument/2006/relationships/image" Target="../media/image13.jp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hoto-1550751827-4bd374c3f58b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" y="27432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27432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5840" y="27432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63040" y="27432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920240" y="27432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77440" y="27432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834640" y="27432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91840" y="27432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49040" y="27432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06240" y="27432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27432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120640" y="27432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577840" y="27432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35040" y="27432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92240" y="27432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949440" y="27432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06640" y="27432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63840" y="27432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321040" y="27432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778240" y="27432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" y="128016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128016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5840" y="128016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463040" y="128016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20240" y="128016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77440" y="128016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834640" y="128016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128016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49040" y="128016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206240" y="128016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663440" y="128016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120640" y="128016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577840" y="128016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035040" y="128016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92240" y="128016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949440" y="128016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406640" y="128016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863840" y="128016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321040" y="128016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778240" y="128016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1440" y="228600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228600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005840" y="228600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463040" y="228600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920240" y="228600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377440" y="228600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834640" y="228600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291840" y="228600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749040" y="228600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206240" y="228600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663440" y="228600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120640" y="228600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577840" y="228600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035040" y="228600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492240" y="228600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949440" y="228600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406640" y="228600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863840" y="228600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321040" y="228600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778240" y="228600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91440" y="329184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48640" y="329184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1005840" y="329184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1463040" y="329184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1920240" y="329184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2377440" y="329184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2834640" y="329184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3291840" y="329184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3749040" y="329184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4206240" y="329184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4663440" y="329184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120640" y="329184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577840" y="329184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035040" y="329184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492240" y="329184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949440" y="329184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7406640" y="329184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7863840" y="329184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8321040" y="329184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8778240" y="329184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91440" y="429768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548640" y="429768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1005840" y="429768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1463040" y="429768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1920240" y="429768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2377440" y="429768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2834640" y="429768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3291840" y="429768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749040" y="429768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4206240" y="429768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4663440" y="429768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5120640" y="429768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5577840" y="429768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035040" y="429768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92240" y="429768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949440" y="429768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7406640" y="429768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863840" y="429768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8321040" y="429768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8778240" y="429768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5943600" y="457200"/>
            <a:ext cx="3657600" cy="3657600"/>
          </a:xfrm>
          <a:prstGeom prst="ellipse">
            <a:avLst/>
          </a:prstGeom>
          <a:solidFill>
            <a:srgbClr val="00B4FF">
              <a:alpha val="12000"/>
            </a:srgbClr>
          </a:solidFill>
          <a:ln w="12700">
            <a:solidFill>
              <a:srgbClr val="00B4FF">
                <a:alpha val="12000"/>
              </a:srgbClr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-914400" y="1828800"/>
            <a:ext cx="3200400" cy="3200400"/>
          </a:xfrm>
          <a:prstGeom prst="ellipse">
            <a:avLst/>
          </a:prstGeom>
          <a:solidFill>
            <a:srgbClr val="E74C3C">
              <a:alpha val="12000"/>
            </a:srgbClr>
          </a:solidFill>
          <a:ln w="12700">
            <a:solidFill>
              <a:srgbClr val="E74C3C">
                <a:alpha val="12000"/>
              </a:srgbClr>
            </a:solidFill>
            <a:prstDash val="solid"/>
          </a:ln>
        </p:spPr>
      </p:sp>
      <p:pic>
        <p:nvPicPr>
          <p:cNvPr id="104" name="Image 0" descr="https://images.unsplash.com/photo-1526374965328-7f61d4dc18c5?w=1200&amp;h=700&amp;fit=crop&amp;q=80"/>
          <p:cNvPicPr>
            <a:picLocks noChangeAspect="1"/>
          </p:cNvPicPr>
          <p:nvPr/>
        </p:nvPicPr>
        <p:blipFill>
          <a:blip r:embed="rId3">
            <a:alphaModFix amt="12000"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105" name="Image 1" descr="https://images.unsplash.com/photo-1563206767-5b18f218e8de?w=900&amp;h=900&amp;fit=crop&amp;q=80"/>
          <p:cNvPicPr>
            <a:picLocks noChangeAspect="1"/>
          </p:cNvPicPr>
          <p:nvPr/>
        </p:nvPicPr>
        <p:blipFill>
          <a:blip r:embed="rId4">
            <a:alphaModFix amt="65000"/>
          </a:blip>
          <a:srcRect/>
          <a:stretch/>
        </p:blipFill>
        <p:spPr>
          <a:xfrm>
            <a:off x="5303520" y="0"/>
            <a:ext cx="3840480" cy="5143500"/>
          </a:xfrm>
          <a:prstGeom prst="rect">
            <a:avLst/>
          </a:prstGeom>
        </p:spPr>
      </p:pic>
      <p:sp>
        <p:nvSpPr>
          <p:cNvPr id="106" name="Shape 102"/>
          <p:cNvSpPr/>
          <p:nvPr/>
        </p:nvSpPr>
        <p:spPr>
          <a:xfrm>
            <a:off x="5029200" y="0"/>
            <a:ext cx="1097280" cy="5143500"/>
          </a:xfrm>
          <a:prstGeom prst="rect">
            <a:avLst/>
          </a:prstGeom>
          <a:solidFill>
            <a:srgbClr val="080C18"/>
          </a:solidFill>
          <a:ln w="12700">
            <a:solidFill>
              <a:srgbClr val="080C18"/>
            </a:solidFill>
            <a:prstDash val="solid"/>
          </a:ln>
        </p:spPr>
      </p:sp>
      <p:sp>
        <p:nvSpPr>
          <p:cNvPr id="107" name="Shape 103"/>
          <p:cNvSpPr/>
          <p:nvPr/>
        </p:nvSpPr>
        <p:spPr>
          <a:xfrm>
            <a:off x="457200" y="457200"/>
            <a:ext cx="1005840" cy="1005840"/>
          </a:xfrm>
          <a:prstGeom prst="ellipse">
            <a:avLst/>
          </a:prstGeom>
          <a:solidFill>
            <a:srgbClr val="00B4FF">
              <a:alpha val="30000"/>
            </a:srgbClr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108" name="Text 104"/>
          <p:cNvSpPr/>
          <p:nvPr/>
        </p:nvSpPr>
        <p:spPr>
          <a:xfrm>
            <a:off x="457200" y="475488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🔒</a:t>
            </a:r>
            <a:endParaRPr lang="en-US" sz="2800" dirty="0"/>
          </a:p>
        </p:txBody>
      </p:sp>
      <p:sp>
        <p:nvSpPr>
          <p:cNvPr id="109" name="Text 105"/>
          <p:cNvSpPr/>
          <p:nvPr/>
        </p:nvSpPr>
        <p:spPr>
          <a:xfrm>
            <a:off x="365760" y="1691640"/>
            <a:ext cx="5029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ფიშინგის სიმულაცია</a:t>
            </a:r>
            <a:endParaRPr lang="en-US" sz="3400" dirty="0"/>
          </a:p>
        </p:txBody>
      </p:sp>
      <p:sp>
        <p:nvSpPr>
          <p:cNvPr id="110" name="Text 106"/>
          <p:cNvSpPr/>
          <p:nvPr/>
        </p:nvSpPr>
        <p:spPr>
          <a:xfrm>
            <a:off x="365760" y="2395728"/>
            <a:ext cx="5029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B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და მომხმარებელთა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00B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ცნობიერება</a:t>
            </a:r>
            <a:endParaRPr lang="en-US" sz="2400" dirty="0"/>
          </a:p>
        </p:txBody>
      </p:sp>
      <p:sp>
        <p:nvSpPr>
          <p:cNvPr id="111" name="Shape 107"/>
          <p:cNvSpPr/>
          <p:nvPr/>
        </p:nvSpPr>
        <p:spPr>
          <a:xfrm>
            <a:off x="365760" y="3493008"/>
            <a:ext cx="2560320" cy="27432"/>
          </a:xfrm>
          <a:prstGeom prst="rect">
            <a:avLst/>
          </a:prstGeom>
          <a:solidFill>
            <a:srgbClr val="00B4FF"/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112" name="Text 108"/>
          <p:cNvSpPr/>
          <p:nvPr/>
        </p:nvSpPr>
        <p:spPr>
          <a:xfrm>
            <a:off x="365760" y="36118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საბაკალავრო კვლევა  —  </a:t>
            </a:r>
            <a:r>
              <a:rPr lang="en-US" sz="1200" dirty="0" err="1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კიბერუსაფრთხოება</a:t>
            </a:r>
            <a:endParaRPr lang="ka-GE" sz="1200" dirty="0">
              <a:solidFill>
                <a:srgbClr val="8899A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ka-GE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მარიამ ხარებავა, ლაშა ღონღაძე</a:t>
            </a:r>
            <a:endParaRPr lang="en-US" sz="1200" dirty="0"/>
          </a:p>
        </p:txBody>
      </p:sp>
      <p:sp>
        <p:nvSpPr>
          <p:cNvPr id="113" name="Text 109"/>
          <p:cNvSpPr/>
          <p:nvPr/>
        </p:nvSpPr>
        <p:spPr>
          <a:xfrm>
            <a:off x="365760" y="46634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a-GE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სას</a:t>
            </a:r>
            <a:r>
              <a:rPr lang="en-US" sz="1000" dirty="0" err="1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წავლო</a:t>
            </a: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წელი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1426"/>
          </a:solidFill>
          <a:ln w="12700">
            <a:solidFill>
              <a:srgbClr val="0D142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47472" y="164592"/>
            <a:ext cx="45720" cy="329184"/>
          </a:xfrm>
          <a:prstGeom prst="rect">
            <a:avLst/>
          </a:prstGeom>
          <a:solidFill>
            <a:srgbClr val="00B4FF"/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75488" y="16459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a-GE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სარჩევი</a:t>
            </a:r>
          </a:p>
        </p:txBody>
      </p:sp>
      <p:sp>
        <p:nvSpPr>
          <p:cNvPr id="5" name="Shape 3"/>
          <p:cNvSpPr/>
          <p:nvPr/>
        </p:nvSpPr>
        <p:spPr>
          <a:xfrm>
            <a:off x="365760" y="777240"/>
            <a:ext cx="4114800" cy="676656"/>
          </a:xfrm>
          <a:prstGeom prst="rect">
            <a:avLst/>
          </a:prstGeom>
          <a:solidFill>
            <a:srgbClr val="111827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777240"/>
            <a:ext cx="54864" cy="676656"/>
          </a:xfrm>
          <a:prstGeom prst="rect">
            <a:avLst/>
          </a:prstGeom>
          <a:solidFill>
            <a:srgbClr val="00B4FF"/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5488" y="777240"/>
            <a:ext cx="50292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B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24128" y="777240"/>
            <a:ext cx="333756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შესავალი და თემის აქტუალობა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1627632"/>
            <a:ext cx="4114800" cy="676656"/>
          </a:xfrm>
          <a:prstGeom prst="rect">
            <a:avLst/>
          </a:prstGeom>
          <a:solidFill>
            <a:srgbClr val="111827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627632"/>
            <a:ext cx="54864" cy="676656"/>
          </a:xfrm>
          <a:prstGeom prst="rect">
            <a:avLst/>
          </a:prstGeom>
          <a:solidFill>
            <a:srgbClr val="00B4FF"/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" y="1627632"/>
            <a:ext cx="50292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B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24128" y="1627632"/>
            <a:ext cx="333756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ფიშინგის თეორიული საფუძვლები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2478024"/>
            <a:ext cx="4114800" cy="676656"/>
          </a:xfrm>
          <a:prstGeom prst="rect">
            <a:avLst/>
          </a:prstGeom>
          <a:solidFill>
            <a:srgbClr val="111827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478024"/>
            <a:ext cx="54864" cy="676656"/>
          </a:xfrm>
          <a:prstGeom prst="rect">
            <a:avLst/>
          </a:prstGeom>
          <a:solidFill>
            <a:srgbClr val="00B4FF"/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5488" y="2478024"/>
            <a:ext cx="50292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B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024128" y="2478024"/>
            <a:ext cx="333756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AI-ზე დაყრდნობილი ფიშინგი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3328416"/>
            <a:ext cx="4114800" cy="676656"/>
          </a:xfrm>
          <a:prstGeom prst="rect">
            <a:avLst/>
          </a:prstGeom>
          <a:solidFill>
            <a:srgbClr val="111827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3328416"/>
            <a:ext cx="54864" cy="676656"/>
          </a:xfrm>
          <a:prstGeom prst="rect">
            <a:avLst/>
          </a:prstGeom>
          <a:solidFill>
            <a:srgbClr val="00B4FF"/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3328416"/>
            <a:ext cx="50292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B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024128" y="3328416"/>
            <a:ext cx="333756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სტატისტიკა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65760" y="4178808"/>
            <a:ext cx="4114800" cy="676656"/>
          </a:xfrm>
          <a:prstGeom prst="rect">
            <a:avLst/>
          </a:prstGeom>
          <a:solidFill>
            <a:srgbClr val="111827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" y="4178808"/>
            <a:ext cx="54864" cy="676656"/>
          </a:xfrm>
          <a:prstGeom prst="rect">
            <a:avLst/>
          </a:prstGeom>
          <a:solidFill>
            <a:srgbClr val="00B4FF"/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488" y="4178808"/>
            <a:ext cx="50292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B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024128" y="4178808"/>
            <a:ext cx="333756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ტექნიკური ანალიზი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754880" y="777240"/>
            <a:ext cx="4114800" cy="676656"/>
          </a:xfrm>
          <a:prstGeom prst="rect">
            <a:avLst/>
          </a:prstGeom>
          <a:solidFill>
            <a:srgbClr val="111827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754880" y="777240"/>
            <a:ext cx="54864" cy="676656"/>
          </a:xfrm>
          <a:prstGeom prst="rect">
            <a:avLst/>
          </a:prstGeom>
          <a:solidFill>
            <a:srgbClr val="00B4FF"/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64608" y="777240"/>
            <a:ext cx="50292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B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5413248" y="777240"/>
            <a:ext cx="333756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პრაქტიკული ნაწილი — სიმულაცია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754880" y="1627632"/>
            <a:ext cx="4114800" cy="676656"/>
          </a:xfrm>
          <a:prstGeom prst="rect">
            <a:avLst/>
          </a:prstGeom>
          <a:solidFill>
            <a:srgbClr val="111827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754880" y="1627632"/>
            <a:ext cx="54864" cy="676656"/>
          </a:xfrm>
          <a:prstGeom prst="rect">
            <a:avLst/>
          </a:prstGeom>
          <a:solidFill>
            <a:srgbClr val="00B4FF"/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64608" y="1627632"/>
            <a:ext cx="50292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B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5413248" y="1627632"/>
            <a:ext cx="333756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ისტორიის უდიდესი ფიშინგ შეტევები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754880" y="2478024"/>
            <a:ext cx="4114800" cy="676656"/>
          </a:xfrm>
          <a:prstGeom prst="rect">
            <a:avLst/>
          </a:prstGeom>
          <a:solidFill>
            <a:srgbClr val="111827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754880" y="2478024"/>
            <a:ext cx="54864" cy="676656"/>
          </a:xfrm>
          <a:prstGeom prst="rect">
            <a:avLst/>
          </a:prstGeom>
          <a:solidFill>
            <a:srgbClr val="00B4FF"/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64608" y="2478024"/>
            <a:ext cx="50292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B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5413248" y="2478024"/>
            <a:ext cx="333756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ექსპერიმენტი და შედეგები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754880" y="3328416"/>
            <a:ext cx="4114800" cy="676656"/>
          </a:xfrm>
          <a:prstGeom prst="rect">
            <a:avLst/>
          </a:prstGeom>
          <a:solidFill>
            <a:srgbClr val="111827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754880" y="3328416"/>
            <a:ext cx="54864" cy="676656"/>
          </a:xfrm>
          <a:prstGeom prst="rect">
            <a:avLst/>
          </a:prstGeom>
          <a:solidFill>
            <a:srgbClr val="00B4FF"/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64608" y="3328416"/>
            <a:ext cx="50292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B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5413248" y="3328416"/>
            <a:ext cx="333756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რეკომენდაციები და დასკვნა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8732520" y="4663440"/>
            <a:ext cx="256032" cy="256032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732520" y="466344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9AA"/>
                </a:solidFill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1426"/>
          </a:solidFill>
          <a:ln w="12700">
            <a:solidFill>
              <a:srgbClr val="0D142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47472" y="164592"/>
            <a:ext cx="45720" cy="329184"/>
          </a:xfrm>
          <a:prstGeom prst="rect">
            <a:avLst/>
          </a:prstGeom>
          <a:solidFill>
            <a:srgbClr val="00B4FF"/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75488" y="16459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შესავალი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0" y="731520"/>
            <a:ext cx="3200400" cy="3200400"/>
          </a:xfrm>
          <a:prstGeom prst="ellipse">
            <a:avLst/>
          </a:prstGeom>
          <a:solidFill>
            <a:srgbClr val="00B4FF">
              <a:alpha val="8000"/>
            </a:srgbClr>
          </a:solidFill>
          <a:ln w="12700">
            <a:solidFill>
              <a:srgbClr val="00B4FF">
                <a:alpha val="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097280"/>
            <a:ext cx="182880" cy="182880"/>
          </a:xfrm>
          <a:prstGeom prst="ellipse">
            <a:avLst/>
          </a:prstGeom>
          <a:solidFill>
            <a:srgbClr val="00B4FF"/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822960"/>
            <a:ext cx="6400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ტექნოლოგიების განვითარებასთან ერთად იზრდება კიბერდანაშაულიც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20040" y="1901952"/>
            <a:ext cx="182880" cy="182880"/>
          </a:xfrm>
          <a:prstGeom prst="ellipse">
            <a:avLst/>
          </a:prstGeom>
          <a:solidFill>
            <a:srgbClr val="00B4FF"/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627632"/>
            <a:ext cx="6400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შავქუდიანი, თეთრქუდიანი და ნაცრისფერქუდიანი ჰაკერები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20040" y="2706624"/>
            <a:ext cx="182880" cy="182880"/>
          </a:xfrm>
          <a:prstGeom prst="ellipse">
            <a:avLst/>
          </a:prstGeom>
          <a:solidFill>
            <a:srgbClr val="00B4FF"/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2432304"/>
            <a:ext cx="6400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ფიშინგი — ყველაზე გავრცელებული შეტევის სტრატეგია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20040" y="3511296"/>
            <a:ext cx="182880" cy="182880"/>
          </a:xfrm>
          <a:prstGeom prst="ellipse">
            <a:avLst/>
          </a:prstGeom>
          <a:solidFill>
            <a:srgbClr val="00B4FF"/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3236976"/>
            <a:ext cx="6400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მომხმარებლის მანიპულირება პირადი მონაცემების მოსაპოვებლად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20040" y="4315968"/>
            <a:ext cx="182880" cy="182880"/>
          </a:xfrm>
          <a:prstGeom prst="ellipse">
            <a:avLst/>
          </a:prstGeom>
          <a:solidFill>
            <a:srgbClr val="00B4FF"/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4041648"/>
            <a:ext cx="6400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AI-ის გამოჩენამ კიდევ უფრო </a:t>
            </a:r>
            <a:r>
              <a:rPr 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გაართულა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a-GE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დამნაშავეების ამოცნობა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732520" y="4663440"/>
            <a:ext cx="256032" cy="256032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732520" y="466344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9AA"/>
                </a:solidFill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1426"/>
          </a:solidFill>
          <a:ln w="12700">
            <a:solidFill>
              <a:srgbClr val="0D142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47472" y="164592"/>
            <a:ext cx="45720" cy="329184"/>
          </a:xfrm>
          <a:prstGeom prst="rect">
            <a:avLst/>
          </a:prstGeom>
          <a:solidFill>
            <a:srgbClr val="00B4FF"/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75488" y="16459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ფიშინგის ტიპები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28600" y="749808"/>
            <a:ext cx="4114800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749808"/>
            <a:ext cx="4114800" cy="54864"/>
          </a:xfrm>
          <a:prstGeom prst="rect">
            <a:avLst/>
          </a:prstGeom>
          <a:solidFill>
            <a:srgbClr val="00B4FF"/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8600" y="886968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📧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097280" y="886968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Phishing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97280" y="1389888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ყალბი ელ-ფოსტა</a:t>
            </a:r>
            <a:endParaRPr lang="en-US" sz="1200" dirty="0"/>
          </a:p>
          <a:p>
            <a:pPr marL="0" indent="0">
              <a:buNone/>
            </a:pPr>
            <a:r>
              <a:rPr lang="en-US" sz="1200" dirty="0" err="1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ლეგიტიმური</a:t>
            </a: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a-GE" sz="1200" dirty="0" err="1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გამომგზავნებისგან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749808"/>
            <a:ext cx="4114800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749808"/>
            <a:ext cx="4114800" cy="54864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886968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🎯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5532120" y="886968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Spear Phishing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532120" y="1389888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მიზნობრივი შეტევა</a:t>
            </a:r>
            <a:endParaRPr lang="en-US" sz="1200" dirty="0"/>
          </a:p>
          <a:p>
            <a:pPr marL="0" indent="0">
              <a:buNone/>
            </a:pPr>
            <a:r>
              <a:rPr lang="en-US" sz="1200" dirty="0" err="1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კონკრეტულ</a:t>
            </a: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პირ</a:t>
            </a:r>
            <a:r>
              <a:rPr lang="ka-GE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ებ</a:t>
            </a:r>
            <a:r>
              <a:rPr lang="en-US" sz="1200" dirty="0" err="1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ზე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28600" y="2834640"/>
            <a:ext cx="4114800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8600" y="2834640"/>
            <a:ext cx="4114800" cy="54864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28600" y="2971800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📱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1097280" y="297180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Smishing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097280" y="347472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SMS-</a:t>
            </a:r>
            <a:r>
              <a:rPr lang="en-US" sz="1200" dirty="0" err="1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ით</a:t>
            </a: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ფიშინგ</a:t>
            </a:r>
            <a:r>
              <a:rPr lang="ka-GE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შეტევები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663440" y="2834640"/>
            <a:ext cx="4114800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63440" y="2834640"/>
            <a:ext cx="4114800" cy="54864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63440" y="2971800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📞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5532120" y="297180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Vishing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532120" y="347472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სატელეფონო ზარით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თაღლითობა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732520" y="4663440"/>
            <a:ext cx="256032" cy="256032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732520" y="466344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9AA"/>
                </a:solidFill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164031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სპეარ ფიშინგი — სიმულაცია: გატეხილი ინსტაგრამი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566928"/>
            <a:ext cx="347472" cy="347472"/>
          </a:xfrm>
          <a:prstGeom prst="ellipse">
            <a:avLst/>
          </a:prstGeom>
          <a:solidFill>
            <a:srgbClr val="E74C3C">
              <a:alpha val="70000"/>
            </a:srgbClr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566928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🔓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28600" y="932688"/>
            <a:ext cx="8961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 გაიტეხა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896112" y="640080"/>
            <a:ext cx="2377440" cy="201168"/>
          </a:xfrm>
          <a:prstGeom prst="rightArrow">
            <a:avLst/>
          </a:prstGeom>
          <a:solidFill>
            <a:srgbClr val="00B4FF">
              <a:alpha val="35000"/>
            </a:srgbClr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337560" y="566928"/>
            <a:ext cx="347472" cy="347472"/>
          </a:xfrm>
          <a:prstGeom prst="ellipse">
            <a:avLst/>
          </a:prstGeom>
          <a:solidFill>
            <a:srgbClr val="00B4FF">
              <a:alpha val="70000"/>
            </a:srgbClr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37560" y="566928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📖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063240" y="932688"/>
            <a:ext cx="8961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ჩათი წაიკითხა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730752" y="640080"/>
            <a:ext cx="2377440" cy="201168"/>
          </a:xfrm>
          <a:prstGeom prst="rightArrow">
            <a:avLst/>
          </a:prstGeom>
          <a:solidFill>
            <a:srgbClr val="00B4FF">
              <a:alpha val="35000"/>
            </a:srgbClr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172200" y="566928"/>
            <a:ext cx="347472" cy="347472"/>
          </a:xfrm>
          <a:prstGeom prst="ellipse">
            <a:avLst/>
          </a:prstGeom>
          <a:solidFill>
            <a:srgbClr val="00B4FF">
              <a:alpha val="70000"/>
            </a:srgbClr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72200" y="566928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🎭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897880" y="932688"/>
            <a:ext cx="8961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a-GE" sz="7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მეგობრის იმიტაცია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565392" y="640080"/>
            <a:ext cx="1856825" cy="201168"/>
          </a:xfrm>
          <a:prstGeom prst="rightArrow">
            <a:avLst/>
          </a:prstGeom>
          <a:solidFill>
            <a:srgbClr val="00B4FF">
              <a:alpha val="35000"/>
            </a:srgbClr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593988" y="575170"/>
            <a:ext cx="347472" cy="347472"/>
          </a:xfrm>
          <a:prstGeom prst="ellipse">
            <a:avLst/>
          </a:prstGeom>
          <a:solidFill>
            <a:srgbClr val="E74C3C">
              <a:alpha val="70000"/>
            </a:srgbClr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93988" y="57517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💸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345170" y="945751"/>
            <a:ext cx="8961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ფული მოითხოვა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172050" y="1748358"/>
            <a:ext cx="1666046" cy="2939145"/>
          </a:xfrm>
          <a:prstGeom prst="roundRect">
            <a:avLst>
              <a:gd name="adj" fmla="val 5833"/>
            </a:avLst>
          </a:prstGeom>
          <a:solidFill>
            <a:srgbClr val="111827"/>
          </a:solidFill>
          <a:ln w="19050">
            <a:solidFill>
              <a:srgbClr val="E74C3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98715" y="1335024"/>
            <a:ext cx="1611029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</a:t>
            </a:r>
            <a:r>
              <a:rPr lang="ka-GE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ინფორმაციის მიღება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27067" y="1928626"/>
            <a:ext cx="1527209" cy="2429693"/>
          </a:xfrm>
          <a:prstGeom prst="roundRect">
            <a:avLst>
              <a:gd name="adj" fmla="val 4545"/>
            </a:avLst>
          </a:prstGeom>
          <a:solidFill>
            <a:srgbClr val="0D1117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27067" y="1928626"/>
            <a:ext cx="1527209" cy="24296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61612" y="1458364"/>
            <a:ext cx="1523154" cy="339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216064" y="4462822"/>
            <a:ext cx="1554976" cy="169817"/>
          </a:xfrm>
          <a:prstGeom prst="roundRect">
            <a:avLst>
              <a:gd name="adj" fmla="val 38462"/>
            </a:avLst>
          </a:prstGeom>
          <a:solidFill>
            <a:srgbClr val="E74C3C">
              <a:alpha val="22000"/>
            </a:srgbClr>
          </a:solidFill>
          <a:ln w="9525">
            <a:solidFill>
              <a:srgbClr val="E74C3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16064" y="4462822"/>
            <a:ext cx="1554976" cy="1698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🎭 სოციალური ინჟინერია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2567778" y="1748358"/>
            <a:ext cx="1666046" cy="2939145"/>
          </a:xfrm>
          <a:prstGeom prst="roundRect">
            <a:avLst>
              <a:gd name="adj" fmla="val 5833"/>
            </a:avLst>
          </a:prstGeom>
          <a:solidFill>
            <a:srgbClr val="111827"/>
          </a:solidFill>
          <a:ln w="19050">
            <a:solidFill>
              <a:srgbClr val="E74C3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594443" y="1335024"/>
            <a:ext cx="1611029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</a:t>
            </a:r>
            <a:r>
              <a:rPr lang="ka-GE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დროზე დაკვირვება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622795" y="1928626"/>
            <a:ext cx="1527209" cy="2429693"/>
          </a:xfrm>
          <a:prstGeom prst="roundRect">
            <a:avLst>
              <a:gd name="adj" fmla="val 4545"/>
            </a:avLst>
          </a:prstGeom>
          <a:solidFill>
            <a:srgbClr val="0D1117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22795" y="1928626"/>
            <a:ext cx="1527209" cy="24296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2657340" y="1458364"/>
            <a:ext cx="1523154" cy="339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2611792" y="4462822"/>
            <a:ext cx="1554976" cy="169817"/>
          </a:xfrm>
          <a:prstGeom prst="roundRect">
            <a:avLst>
              <a:gd name="adj" fmla="val 38462"/>
            </a:avLst>
          </a:prstGeom>
          <a:solidFill>
            <a:srgbClr val="E74C3C">
              <a:alpha val="22000"/>
            </a:srgbClr>
          </a:solidFill>
          <a:ln w="9525">
            <a:solidFill>
              <a:srgbClr val="E74C3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11792" y="4462822"/>
            <a:ext cx="1554976" cy="1698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a-GE" sz="75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დროზე დაკვირვება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963506" y="1748358"/>
            <a:ext cx="1666046" cy="2939145"/>
          </a:xfrm>
          <a:prstGeom prst="roundRect">
            <a:avLst>
              <a:gd name="adj" fmla="val 5833"/>
            </a:avLst>
          </a:prstGeom>
          <a:solidFill>
            <a:srgbClr val="111827"/>
          </a:solidFill>
          <a:ln w="19050">
            <a:solidFill>
              <a:srgbClr val="00B4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90171" y="1335024"/>
            <a:ext cx="1611029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ჩათის კონტექსტი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5018523" y="1928626"/>
            <a:ext cx="1527209" cy="2429693"/>
          </a:xfrm>
          <a:prstGeom prst="roundRect">
            <a:avLst>
              <a:gd name="adj" fmla="val 4545"/>
            </a:avLst>
          </a:prstGeom>
          <a:solidFill>
            <a:srgbClr val="0D1117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018523" y="1928626"/>
            <a:ext cx="1527209" cy="24296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053068" y="1458364"/>
            <a:ext cx="1523154" cy="339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5007520" y="4462822"/>
            <a:ext cx="1554976" cy="169817"/>
          </a:xfrm>
          <a:prstGeom prst="roundRect">
            <a:avLst>
              <a:gd name="adj" fmla="val 38462"/>
            </a:avLst>
          </a:prstGeom>
          <a:solidFill>
            <a:srgbClr val="00B4FF">
              <a:alpha val="22000"/>
            </a:srgbClr>
          </a:solidFill>
          <a:ln w="9525">
            <a:solidFill>
              <a:srgbClr val="00B4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07520" y="4462822"/>
            <a:ext cx="1554976" cy="1698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0B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IG-ჩათის ინფო გამოყენდა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7359234" y="1748358"/>
            <a:ext cx="1666046" cy="2939145"/>
          </a:xfrm>
          <a:prstGeom prst="roundRect">
            <a:avLst>
              <a:gd name="adj" fmla="val 5833"/>
            </a:avLst>
          </a:prstGeom>
          <a:solidFill>
            <a:srgbClr val="111827"/>
          </a:solidFill>
          <a:ln w="19050">
            <a:solidFill>
              <a:srgbClr val="E74C3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59234" y="1326430"/>
            <a:ext cx="1611029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</a:t>
            </a:r>
            <a:r>
              <a:rPr lang="ka-GE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შეტევის დრო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7414251" y="1928626"/>
            <a:ext cx="1527209" cy="2429693"/>
          </a:xfrm>
          <a:prstGeom prst="roundRect">
            <a:avLst>
              <a:gd name="adj" fmla="val 4545"/>
            </a:avLst>
          </a:prstGeom>
          <a:solidFill>
            <a:srgbClr val="0D1117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414251" y="1928626"/>
            <a:ext cx="1527209" cy="24296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448796" y="1458364"/>
            <a:ext cx="1523154" cy="339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7403248" y="4462822"/>
            <a:ext cx="1554976" cy="169817"/>
          </a:xfrm>
          <a:prstGeom prst="roundRect">
            <a:avLst>
              <a:gd name="adj" fmla="val 38462"/>
            </a:avLst>
          </a:prstGeom>
          <a:solidFill>
            <a:srgbClr val="E74C3C">
              <a:alpha val="22000"/>
            </a:srgbClr>
          </a:solidFill>
          <a:ln w="9525">
            <a:solidFill>
              <a:srgbClr val="E74C3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03248" y="4462822"/>
            <a:ext cx="1554976" cy="1698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a-GE" sz="75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შეტევის დრო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274320" y="6601968"/>
            <a:ext cx="11640312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750" dirty="0"/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B4762F29-2E45-195E-8C54-46E0472D75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912" y="1952514"/>
            <a:ext cx="1102736" cy="2395081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51E51383-65BC-5E67-A596-91E04EB3F8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5216" y="1944733"/>
            <a:ext cx="1118671" cy="2397734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7E8BD526-A26F-74BD-6115-06CE178D33C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56693" y="1976692"/>
            <a:ext cx="1089243" cy="2365775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F4797AB8-D294-5129-0036-C1F100E5A8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41371" y="1952554"/>
            <a:ext cx="1111469" cy="240576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3308" y="152667"/>
            <a:ext cx="1164031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📧  Email და Spear Phishing-ის გაერთიანებული მაგალითი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323996" y="694719"/>
            <a:ext cx="5018405" cy="237744"/>
          </a:xfrm>
          <a:prstGeom prst="roundRect">
            <a:avLst>
              <a:gd name="adj" fmla="val 38462"/>
            </a:avLst>
          </a:prstGeom>
          <a:solidFill>
            <a:srgbClr val="F5A623">
              <a:alpha val="18000"/>
            </a:srgbClr>
          </a:solidFill>
          <a:ln w="9525">
            <a:solidFill>
              <a:srgbClr val="F5A62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3308" y="697085"/>
            <a:ext cx="530415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F5A62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🎯 რეალური სიმულაცია · ყალბი მეილი SOLO Club-ის სახელით · მომხმარებელი ინფორმირებული იყო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377662" y="693331"/>
            <a:ext cx="920750" cy="237744"/>
          </a:xfrm>
          <a:prstGeom prst="roundRect">
            <a:avLst>
              <a:gd name="adj" fmla="val 38462"/>
            </a:avLst>
          </a:prstGeom>
          <a:solidFill>
            <a:srgbClr val="E74C3C">
              <a:alpha val="20000"/>
            </a:srgbClr>
          </a:solidFill>
          <a:ln w="9525">
            <a:solidFill>
              <a:srgbClr val="E74C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69068" y="689282"/>
            <a:ext cx="151790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🎭 Brand Spoofing</a:t>
            </a:r>
            <a:endParaRPr kumimoji="0" lang="en-US" sz="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352476" y="683845"/>
            <a:ext cx="874915" cy="237744"/>
          </a:xfrm>
          <a:prstGeom prst="roundRect">
            <a:avLst>
              <a:gd name="adj" fmla="val 38462"/>
            </a:avLst>
          </a:prstGeom>
          <a:solidFill>
            <a:srgbClr val="00B4FF">
              <a:alpha val="20000"/>
            </a:srgbClr>
          </a:solidFill>
          <a:ln w="9525">
            <a:solidFill>
              <a:srgbClr val="00B4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26394" y="674681"/>
            <a:ext cx="151790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 dirty="0">
                <a:ln>
                  <a:noFill/>
                </a:ln>
                <a:solidFill>
                  <a:srgbClr val="00B4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👤 Personalization</a:t>
            </a:r>
            <a:endParaRPr kumimoji="0" lang="en-US" sz="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7272279" y="685534"/>
            <a:ext cx="1232847" cy="237744"/>
          </a:xfrm>
          <a:prstGeom prst="roundRect">
            <a:avLst>
              <a:gd name="adj" fmla="val 38462"/>
            </a:avLst>
          </a:prstGeom>
          <a:solidFill>
            <a:srgbClr val="27AE60">
              <a:alpha val="20000"/>
            </a:srgbClr>
          </a:solidFill>
          <a:ln w="9525">
            <a:solidFill>
              <a:srgbClr val="27AE6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07043" y="685180"/>
            <a:ext cx="151790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 dirty="0">
                <a:ln>
                  <a:noFill/>
                </a:ln>
                <a:solidFill>
                  <a:srgbClr val="27AE6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✅ Fake Verification</a:t>
            </a:r>
            <a:endParaRPr kumimoji="0" lang="en-US" sz="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56992" y="1166176"/>
            <a:ext cx="1643888" cy="3741104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9050">
            <a:solidFill>
              <a:srgbClr val="27AE6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30144" y="1430738"/>
            <a:ext cx="1512377" cy="3320394"/>
          </a:xfrm>
          <a:prstGeom prst="roundRect">
            <a:avLst>
              <a:gd name="adj" fmla="val 4348"/>
            </a:avLst>
          </a:prstGeom>
          <a:solidFill>
            <a:srgbClr val="0D1117"/>
          </a:solidFill>
          <a:ln w="9525">
            <a:solidFill>
              <a:srgbClr val="1E3A5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30144" y="1430738"/>
            <a:ext cx="1512377" cy="3320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285008" y="1076322"/>
            <a:ext cx="1413744" cy="48355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6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248432" y="4320740"/>
            <a:ext cx="1479499" cy="402960"/>
          </a:xfrm>
          <a:prstGeom prst="roundRect">
            <a:avLst>
              <a:gd name="adj" fmla="val 16000"/>
            </a:avLst>
          </a:prstGeom>
          <a:solidFill>
            <a:srgbClr val="27AE60">
              <a:alpha val="12000"/>
            </a:srgbClr>
          </a:solidFill>
          <a:ln w="9525">
            <a:solidFill>
              <a:srgbClr val="27AE6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48432" y="4320740"/>
            <a:ext cx="1479499" cy="40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1" i="0" u="none" strike="noStrike" kern="1200" cap="none" spc="0" normalizeH="0" baseline="0" noProof="0" dirty="0">
                <a:ln>
                  <a:noFill/>
                </a:ln>
                <a:solidFill>
                  <a:srgbClr val="27AE6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🔵 </a:t>
            </a:r>
            <a:r>
              <a:rPr kumimoji="0" lang="ka-GE" sz="700" b="1" i="0" u="none" strike="noStrike" kern="1200" cap="none" spc="0" normalizeH="0" baseline="0" noProof="0" dirty="0">
                <a:ln>
                  <a:noFill/>
                </a:ln>
                <a:solidFill>
                  <a:srgbClr val="27AE6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სახელის გამოყენება, ოფიციალური დაწყება, </a:t>
            </a:r>
            <a:r>
              <a:rPr kumimoji="0" lang="en-US" sz="700" b="1" i="0" u="none" strike="noStrike" kern="1200" cap="none" spc="0" normalizeH="0" baseline="0" noProof="0" dirty="0">
                <a:ln>
                  <a:noFill/>
                </a:ln>
                <a:solidFill>
                  <a:srgbClr val="27AE6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verified icon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1956816" y="1183640"/>
            <a:ext cx="1643888" cy="372364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9050">
            <a:solidFill>
              <a:srgbClr val="00B4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29968" y="1448202"/>
            <a:ext cx="1512377" cy="3320394"/>
          </a:xfrm>
          <a:prstGeom prst="roundRect">
            <a:avLst>
              <a:gd name="adj" fmla="val 4348"/>
            </a:avLst>
          </a:prstGeom>
          <a:solidFill>
            <a:srgbClr val="0D1117"/>
          </a:solidFill>
          <a:ln w="9525">
            <a:solidFill>
              <a:srgbClr val="1E3A5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029968" y="1448202"/>
            <a:ext cx="1512377" cy="3320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2084832" y="1093786"/>
            <a:ext cx="1413744" cy="48355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6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2048256" y="4338204"/>
            <a:ext cx="1479499" cy="402960"/>
          </a:xfrm>
          <a:prstGeom prst="roundRect">
            <a:avLst>
              <a:gd name="adj" fmla="val 16000"/>
            </a:avLst>
          </a:prstGeom>
          <a:solidFill>
            <a:srgbClr val="00B4FF">
              <a:alpha val="12000"/>
            </a:srgbClr>
          </a:solidFill>
          <a:ln w="9525">
            <a:solidFill>
              <a:srgbClr val="00B4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48256" y="4338204"/>
            <a:ext cx="1479499" cy="40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1" i="0" u="none" strike="noStrike" kern="1200" cap="none" spc="0" normalizeH="0" baseline="0" noProof="0" dirty="0">
                <a:ln>
                  <a:noFill/>
                </a:ln>
                <a:solidFill>
                  <a:srgbClr val="00B4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🎯 </a:t>
            </a:r>
            <a:r>
              <a:rPr kumimoji="0" lang="ka-GE" sz="700" b="1" i="0" u="none" strike="noStrike" kern="1200" cap="none" spc="0" normalizeH="0" baseline="0" noProof="0" dirty="0">
                <a:ln>
                  <a:noFill/>
                </a:ln>
                <a:solidFill>
                  <a:srgbClr val="00B4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შეთავაზების </a:t>
            </a:r>
            <a:r>
              <a:rPr kumimoji="0" lang="ka-GE" sz="700" b="1" i="0" u="none" strike="noStrike" kern="1200" cap="none" spc="0" normalizeH="0" baseline="0" noProof="0" dirty="0" err="1">
                <a:ln>
                  <a:noFill/>
                </a:ln>
                <a:solidFill>
                  <a:srgbClr val="00B4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გაკეთბა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3785819" y="1183640"/>
            <a:ext cx="1643888" cy="372364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9050">
            <a:solidFill>
              <a:srgbClr val="E74C3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858971" y="1448202"/>
            <a:ext cx="1512377" cy="3320394"/>
          </a:xfrm>
          <a:prstGeom prst="roundRect">
            <a:avLst>
              <a:gd name="adj" fmla="val 4348"/>
            </a:avLst>
          </a:prstGeom>
          <a:solidFill>
            <a:srgbClr val="0D1117"/>
          </a:solidFill>
          <a:ln w="9525">
            <a:solidFill>
              <a:srgbClr val="1E3A5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858971" y="1448202"/>
            <a:ext cx="1512377" cy="3320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3913835" y="1093786"/>
            <a:ext cx="1413744" cy="48355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6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3877259" y="4338204"/>
            <a:ext cx="1479499" cy="402960"/>
          </a:xfrm>
          <a:prstGeom prst="roundRect">
            <a:avLst>
              <a:gd name="adj" fmla="val 16000"/>
            </a:avLst>
          </a:prstGeom>
          <a:solidFill>
            <a:srgbClr val="E74C3C">
              <a:alpha val="12000"/>
            </a:srgbClr>
          </a:solidFill>
          <a:ln w="9525">
            <a:solidFill>
              <a:srgbClr val="E74C3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877259" y="4338204"/>
            <a:ext cx="1479499" cy="40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1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🔴 </a:t>
            </a:r>
            <a:r>
              <a:rPr kumimoji="0" lang="ka-GE" sz="700" b="1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საკონტაქტო ინფორმაცია მეტი </a:t>
            </a:r>
            <a:r>
              <a:rPr kumimoji="0" lang="ka-GE" sz="700" b="1" i="0" u="none" strike="noStrike" kern="1200" cap="none" spc="0" normalizeH="0" baseline="0" noProof="0" dirty="0" err="1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სანდოობისთვის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5617464" y="1185226"/>
            <a:ext cx="1643888" cy="3722054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9050">
            <a:solidFill>
              <a:srgbClr val="E74C3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690616" y="1449788"/>
            <a:ext cx="1512377" cy="3320394"/>
          </a:xfrm>
          <a:prstGeom prst="roundRect">
            <a:avLst>
              <a:gd name="adj" fmla="val 4348"/>
            </a:avLst>
          </a:prstGeom>
          <a:solidFill>
            <a:srgbClr val="0D1117"/>
          </a:solidFill>
          <a:ln w="9525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5690616" y="1449788"/>
            <a:ext cx="1512377" cy="3320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5745480" y="1095372"/>
            <a:ext cx="1413744" cy="48355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6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5708904" y="4339790"/>
            <a:ext cx="1479499" cy="402960"/>
          </a:xfrm>
          <a:prstGeom prst="roundRect">
            <a:avLst>
              <a:gd name="adj" fmla="val 16000"/>
            </a:avLst>
          </a:prstGeom>
          <a:solidFill>
            <a:srgbClr val="E74C3C">
              <a:alpha val="12000"/>
            </a:srgbClr>
          </a:solidFill>
          <a:ln w="9525">
            <a:solidFill>
              <a:srgbClr val="E74C3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708904" y="4339790"/>
            <a:ext cx="1479499" cy="40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1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🔴 </a:t>
            </a:r>
            <a:r>
              <a:rPr kumimoji="0" lang="ka-GE" sz="700" b="1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ყალბი ნიშნები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" name="Shape 45"/>
          <p:cNvSpPr/>
          <p:nvPr/>
        </p:nvSpPr>
        <p:spPr>
          <a:xfrm>
            <a:off x="7406640" y="1185226"/>
            <a:ext cx="1643888" cy="3722054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9050">
            <a:solidFill>
              <a:srgbClr val="F5A623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479792" y="1449788"/>
            <a:ext cx="1512377" cy="3320394"/>
          </a:xfrm>
          <a:prstGeom prst="roundRect">
            <a:avLst>
              <a:gd name="adj" fmla="val 4348"/>
            </a:avLst>
          </a:prstGeom>
          <a:solidFill>
            <a:srgbClr val="0D1117"/>
          </a:solidFill>
          <a:ln w="9525">
            <a:solidFill>
              <a:srgbClr val="1E3A5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79792" y="1449788"/>
            <a:ext cx="1512377" cy="3320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7534656" y="1095372"/>
            <a:ext cx="1413744" cy="48355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6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2" name="Shape 50"/>
          <p:cNvSpPr/>
          <p:nvPr/>
        </p:nvSpPr>
        <p:spPr>
          <a:xfrm>
            <a:off x="7498080" y="4339790"/>
            <a:ext cx="1479499" cy="402960"/>
          </a:xfrm>
          <a:prstGeom prst="roundRect">
            <a:avLst>
              <a:gd name="adj" fmla="val 16000"/>
            </a:avLst>
          </a:prstGeom>
          <a:solidFill>
            <a:srgbClr val="F5A623">
              <a:alpha val="12000"/>
            </a:srgbClr>
          </a:solidFill>
          <a:ln w="9525">
            <a:solidFill>
              <a:srgbClr val="F5A623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498080" y="4339790"/>
            <a:ext cx="1479499" cy="40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1" i="0" u="none" strike="noStrike" kern="1200" cap="none" spc="0" normalizeH="0" baseline="0" noProof="0" dirty="0">
                <a:ln>
                  <a:noFill/>
                </a:ln>
                <a:solidFill>
                  <a:srgbClr val="F5A62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🏦 </a:t>
            </a:r>
            <a:r>
              <a:rPr lang="ka-GE" sz="7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ყალბი საკონტაქტო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6" name="Shape 54"/>
          <p:cNvSpPr/>
          <p:nvPr/>
        </p:nvSpPr>
        <p:spPr>
          <a:xfrm>
            <a:off x="274320" y="5486400"/>
            <a:ext cx="11640312" cy="182880"/>
          </a:xfrm>
          <a:prstGeom prst="roundRect">
            <a:avLst>
              <a:gd name="adj" fmla="val 40000"/>
            </a:avLst>
          </a:prstGeom>
          <a:solidFill>
            <a:srgbClr val="E74C3C">
              <a:alpha val="15000"/>
            </a:srgbClr>
          </a:solidFill>
          <a:ln w="9525">
            <a:solidFill>
              <a:srgbClr val="E74C3C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74320" y="5486400"/>
            <a:ext cx="116403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1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⚠️  ეს არის საბაკალავრო კვლევის ეთიკური სიმულაცია — მეილი გაიგზავნა სასწავლო მიზნებისთვის · მომხმარებელი ინფორმირებული იყო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83D132FE-7215-836B-7252-9B9818DA7F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889" y="1532575"/>
            <a:ext cx="1512377" cy="2783548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5890327C-DEB1-EEDD-4DBA-349322EE44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7898" y="1578925"/>
            <a:ext cx="1498860" cy="2664639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ACEA9E22-6818-4805-2752-4A7F0A51D4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7773" y="1449788"/>
            <a:ext cx="1313270" cy="2852351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FAB8163D-069D-50CC-DC6C-295EDCD629A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39740" y="1520318"/>
            <a:ext cx="1525100" cy="2711289"/>
          </a:xfrm>
          <a:prstGeom prst="rect">
            <a:avLst/>
          </a:prstGeom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F5C58F16-2E48-8D9B-8CEA-184817AB9F6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79792" y="1542735"/>
            <a:ext cx="1501243" cy="273701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1426"/>
          </a:solidFill>
          <a:ln w="12700">
            <a:solidFill>
              <a:srgbClr val="0D142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47472" y="164592"/>
            <a:ext cx="45720" cy="329184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75488" y="16459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სოციალური ინჟინერია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583680" y="822960"/>
            <a:ext cx="2926080" cy="2926080"/>
          </a:xfrm>
          <a:prstGeom prst="ellipse">
            <a:avLst/>
          </a:prstGeom>
          <a:solidFill>
            <a:srgbClr val="E74C3C">
              <a:alpha val="8000"/>
            </a:srgbClr>
          </a:solidFill>
          <a:ln w="12700">
            <a:solidFill>
              <a:srgbClr val="E74C3C">
                <a:alpha val="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804672"/>
            <a:ext cx="6217920" cy="685800"/>
          </a:xfrm>
          <a:prstGeom prst="rect">
            <a:avLst/>
          </a:prstGeom>
          <a:solidFill>
            <a:srgbClr val="111827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804672"/>
            <a:ext cx="640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🧠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05840" y="804672"/>
            <a:ext cx="5486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ფსიქოლოგიური მანიპულირების ტექნიკა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74320" y="1645920"/>
            <a:ext cx="6217920" cy="685800"/>
          </a:xfrm>
          <a:prstGeom prst="rect">
            <a:avLst/>
          </a:prstGeom>
          <a:solidFill>
            <a:srgbClr val="111827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1645920"/>
            <a:ext cx="640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⏰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05840" y="1645920"/>
            <a:ext cx="5486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"ანგარიში დაიბლოკება 24 საათში" — emergency feeling 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74320" y="2487168"/>
            <a:ext cx="6217920" cy="685800"/>
          </a:xfrm>
          <a:prstGeom prst="rect">
            <a:avLst/>
          </a:prstGeom>
          <a:solidFill>
            <a:srgbClr val="111827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" y="2487168"/>
            <a:ext cx="640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👔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05840" y="2487168"/>
            <a:ext cx="5486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ავტორიტეტის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a-GE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მითვისება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ბანკი, სახელმწიფო, IT სამსახური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74320" y="3328416"/>
            <a:ext cx="6217920" cy="685800"/>
          </a:xfrm>
          <a:prstGeom prst="rect">
            <a:avLst/>
          </a:prstGeom>
          <a:solidFill>
            <a:srgbClr val="111827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3328416"/>
            <a:ext cx="640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😨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05840" y="3328416"/>
            <a:ext cx="5486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შიშის, სიხარბის ან ცნობისმოყვარეობის გამოყენება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74320" y="4169664"/>
            <a:ext cx="6217920" cy="685800"/>
          </a:xfrm>
          <a:prstGeom prst="rect">
            <a:avLst/>
          </a:prstGeom>
          <a:solidFill>
            <a:srgbClr val="111827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" y="4169664"/>
            <a:ext cx="640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🎭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005840" y="4169664"/>
            <a:ext cx="5486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მსხვერპლი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ნებაყოფლობით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a-GE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გასცემს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მონაცემებს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732520" y="4663440"/>
            <a:ext cx="256032" cy="256032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32520" y="466344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9AA"/>
                </a:solidFill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1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68E7C4-D8B4-1E32-D1CD-1E82ECAE7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Shape 34">
            <a:extLst>
              <a:ext uri="{FF2B5EF4-FFF2-40B4-BE49-F238E27FC236}">
                <a16:creationId xmlns:a16="http://schemas.microsoft.com/office/drawing/2014/main" id="{755C8AD5-2827-9F71-B14C-1F5991B41DF9}"/>
              </a:ext>
            </a:extLst>
          </p:cNvPr>
          <p:cNvSpPr/>
          <p:nvPr/>
        </p:nvSpPr>
        <p:spPr>
          <a:xfrm>
            <a:off x="8027974" y="4239389"/>
            <a:ext cx="1088581" cy="803679"/>
          </a:xfrm>
          <a:prstGeom prst="roundRect">
            <a:avLst>
              <a:gd name="adj" fmla="val 36364"/>
            </a:avLst>
          </a:prstGeom>
          <a:ln/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4EA6C4FB-3ABD-B66C-D48A-08FD7E6DD79A}"/>
              </a:ext>
            </a:extLst>
          </p:cNvPr>
          <p:cNvSpPr/>
          <p:nvPr/>
        </p:nvSpPr>
        <p:spPr>
          <a:xfrm>
            <a:off x="489792" y="309314"/>
            <a:ext cx="1164031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a-GE" sz="2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Smishing – </a:t>
            </a:r>
            <a:r>
              <a:rPr kumimoji="0" lang="ka-GE" sz="2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ბოლო დროინდელი ინციდენტი საქართველოში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7AEF73DE-A88A-2237-2A6D-4A1E196A0FA4}"/>
              </a:ext>
            </a:extLst>
          </p:cNvPr>
          <p:cNvSpPr/>
          <p:nvPr/>
        </p:nvSpPr>
        <p:spPr>
          <a:xfrm>
            <a:off x="4536399" y="1098782"/>
            <a:ext cx="1643888" cy="386842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9050">
            <a:solidFill>
              <a:srgbClr val="27AE60"/>
            </a:solidFill>
            <a:prstDash val="solid"/>
          </a:ln>
        </p:spPr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3869432B-0204-9D97-CCF0-1748BCA41829}"/>
              </a:ext>
            </a:extLst>
          </p:cNvPr>
          <p:cNvSpPr/>
          <p:nvPr/>
        </p:nvSpPr>
        <p:spPr>
          <a:xfrm>
            <a:off x="4609551" y="1363344"/>
            <a:ext cx="1512377" cy="3320394"/>
          </a:xfrm>
          <a:prstGeom prst="roundRect">
            <a:avLst>
              <a:gd name="adj" fmla="val 4348"/>
            </a:avLst>
          </a:prstGeom>
          <a:solidFill>
            <a:srgbClr val="0D1117"/>
          </a:solidFill>
          <a:ln w="9525">
            <a:solidFill>
              <a:srgbClr val="1E3A5F"/>
            </a:solidFill>
            <a:prstDash val="solid"/>
          </a:ln>
        </p:spPr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A77FA306-94A7-0D0A-D168-550A044FBA1E}"/>
              </a:ext>
            </a:extLst>
          </p:cNvPr>
          <p:cNvSpPr/>
          <p:nvPr/>
        </p:nvSpPr>
        <p:spPr>
          <a:xfrm>
            <a:off x="4609551" y="1363344"/>
            <a:ext cx="1512377" cy="3320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2A7E83F9-7018-D799-FF12-C583E756C4ED}"/>
              </a:ext>
            </a:extLst>
          </p:cNvPr>
          <p:cNvSpPr/>
          <p:nvPr/>
        </p:nvSpPr>
        <p:spPr>
          <a:xfrm>
            <a:off x="4664415" y="1008928"/>
            <a:ext cx="1413744" cy="48355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6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70558508-506F-9B2A-099E-15DE3C2AF69E}"/>
              </a:ext>
            </a:extLst>
          </p:cNvPr>
          <p:cNvSpPr/>
          <p:nvPr/>
        </p:nvSpPr>
        <p:spPr>
          <a:xfrm>
            <a:off x="4627839" y="4253346"/>
            <a:ext cx="1479499" cy="40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CA457B51-C9EB-1BA7-07C7-F39BC344505C}"/>
              </a:ext>
            </a:extLst>
          </p:cNvPr>
          <p:cNvSpPr/>
          <p:nvPr/>
        </p:nvSpPr>
        <p:spPr>
          <a:xfrm>
            <a:off x="4609551" y="4753322"/>
            <a:ext cx="1512377" cy="1773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74E706AE-E6F0-BF7F-0F29-A9D6878098CF}"/>
              </a:ext>
            </a:extLst>
          </p:cNvPr>
          <p:cNvSpPr/>
          <p:nvPr/>
        </p:nvSpPr>
        <p:spPr>
          <a:xfrm>
            <a:off x="858703" y="1111975"/>
            <a:ext cx="1643888" cy="386842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9050">
            <a:solidFill>
              <a:srgbClr val="00B4FF"/>
            </a:solidFill>
            <a:prstDash val="solid"/>
          </a:ln>
        </p:spPr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F347D52D-6C96-A6A1-4BE6-D210F88D0349}"/>
              </a:ext>
            </a:extLst>
          </p:cNvPr>
          <p:cNvSpPr/>
          <p:nvPr/>
        </p:nvSpPr>
        <p:spPr>
          <a:xfrm>
            <a:off x="931855" y="1376537"/>
            <a:ext cx="1512377" cy="3320394"/>
          </a:xfrm>
          <a:prstGeom prst="roundRect">
            <a:avLst>
              <a:gd name="adj" fmla="val 4348"/>
            </a:avLst>
          </a:prstGeom>
          <a:solidFill>
            <a:srgbClr val="0D1117"/>
          </a:solidFill>
          <a:ln w="9525">
            <a:solidFill>
              <a:srgbClr val="1E3A5F"/>
            </a:solidFill>
            <a:prstDash val="solid"/>
          </a:ln>
        </p:spPr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CB353AC8-1113-C3CA-3DB9-CEF3AF864B20}"/>
              </a:ext>
            </a:extLst>
          </p:cNvPr>
          <p:cNvSpPr/>
          <p:nvPr/>
        </p:nvSpPr>
        <p:spPr>
          <a:xfrm>
            <a:off x="931855" y="1376537"/>
            <a:ext cx="1512377" cy="3320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1B6BB45F-63B7-1B75-82EC-540C5675D602}"/>
              </a:ext>
            </a:extLst>
          </p:cNvPr>
          <p:cNvSpPr/>
          <p:nvPr/>
        </p:nvSpPr>
        <p:spPr>
          <a:xfrm>
            <a:off x="950143" y="4266539"/>
            <a:ext cx="1479499" cy="40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C65EC080-0251-1C8E-2A45-4221D54807D1}"/>
              </a:ext>
            </a:extLst>
          </p:cNvPr>
          <p:cNvSpPr/>
          <p:nvPr/>
        </p:nvSpPr>
        <p:spPr>
          <a:xfrm>
            <a:off x="931855" y="4766515"/>
            <a:ext cx="1512377" cy="1773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6C2F6AE3-041F-DE68-D780-19E67F9B7C34}"/>
              </a:ext>
            </a:extLst>
          </p:cNvPr>
          <p:cNvSpPr/>
          <p:nvPr/>
        </p:nvSpPr>
        <p:spPr>
          <a:xfrm>
            <a:off x="2711236" y="1111975"/>
            <a:ext cx="1643888" cy="386842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9050">
            <a:solidFill>
              <a:srgbClr val="E74C3C"/>
            </a:solidFill>
            <a:prstDash val="solid"/>
          </a:ln>
        </p:spPr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EF9F11E7-E125-352C-3BD4-31C7711E095F}"/>
              </a:ext>
            </a:extLst>
          </p:cNvPr>
          <p:cNvSpPr/>
          <p:nvPr/>
        </p:nvSpPr>
        <p:spPr>
          <a:xfrm>
            <a:off x="2784388" y="1376537"/>
            <a:ext cx="1512377" cy="3320394"/>
          </a:xfrm>
          <a:prstGeom prst="roundRect">
            <a:avLst>
              <a:gd name="adj" fmla="val 4348"/>
            </a:avLst>
          </a:prstGeom>
          <a:solidFill>
            <a:srgbClr val="0D1117"/>
          </a:solidFill>
          <a:ln w="9525">
            <a:solidFill>
              <a:srgbClr val="1E3A5F"/>
            </a:solidFill>
            <a:prstDash val="solid"/>
          </a:ln>
        </p:spPr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4C87935F-3DE7-3433-E8F5-3CEE95CFFE0B}"/>
              </a:ext>
            </a:extLst>
          </p:cNvPr>
          <p:cNvSpPr/>
          <p:nvPr/>
        </p:nvSpPr>
        <p:spPr>
          <a:xfrm>
            <a:off x="2784388" y="1376537"/>
            <a:ext cx="1512377" cy="3320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E4B69375-9D14-BC74-BCFE-7A42CFC8F493}"/>
              </a:ext>
            </a:extLst>
          </p:cNvPr>
          <p:cNvSpPr/>
          <p:nvPr/>
        </p:nvSpPr>
        <p:spPr>
          <a:xfrm>
            <a:off x="4620707" y="993385"/>
            <a:ext cx="1413744" cy="48355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6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5A685554-A0C9-E987-70B2-9F9BD62F96F1}"/>
              </a:ext>
            </a:extLst>
          </p:cNvPr>
          <p:cNvSpPr/>
          <p:nvPr/>
        </p:nvSpPr>
        <p:spPr>
          <a:xfrm>
            <a:off x="2802676" y="4266539"/>
            <a:ext cx="1479499" cy="40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>
            <a:extLst>
              <a:ext uri="{FF2B5EF4-FFF2-40B4-BE49-F238E27FC236}">
                <a16:creationId xmlns:a16="http://schemas.microsoft.com/office/drawing/2014/main" id="{ED8FBF7C-20AE-7B08-2310-C7EF03131977}"/>
              </a:ext>
            </a:extLst>
          </p:cNvPr>
          <p:cNvSpPr/>
          <p:nvPr/>
        </p:nvSpPr>
        <p:spPr>
          <a:xfrm>
            <a:off x="6324336" y="1084825"/>
            <a:ext cx="1643888" cy="386842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9050">
            <a:solidFill>
              <a:srgbClr val="E74C3C"/>
            </a:solidFill>
            <a:prstDash val="solid"/>
          </a:ln>
        </p:spPr>
      </p:sp>
      <p:sp>
        <p:nvSpPr>
          <p:cNvPr id="40" name="Shape 38">
            <a:extLst>
              <a:ext uri="{FF2B5EF4-FFF2-40B4-BE49-F238E27FC236}">
                <a16:creationId xmlns:a16="http://schemas.microsoft.com/office/drawing/2014/main" id="{6F48965E-6CF9-3AD9-927D-B13432BC3EF9}"/>
              </a:ext>
            </a:extLst>
          </p:cNvPr>
          <p:cNvSpPr/>
          <p:nvPr/>
        </p:nvSpPr>
        <p:spPr>
          <a:xfrm>
            <a:off x="6397488" y="1349387"/>
            <a:ext cx="1512377" cy="3320394"/>
          </a:xfrm>
          <a:prstGeom prst="roundRect">
            <a:avLst>
              <a:gd name="adj" fmla="val 4348"/>
            </a:avLst>
          </a:prstGeom>
          <a:solidFill>
            <a:srgbClr val="0D1117"/>
          </a:solidFill>
          <a:ln w="9525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4EE0550A-2269-21E4-DE7B-0D59E3172CA2}"/>
              </a:ext>
            </a:extLst>
          </p:cNvPr>
          <p:cNvSpPr/>
          <p:nvPr/>
        </p:nvSpPr>
        <p:spPr>
          <a:xfrm>
            <a:off x="6397488" y="1349387"/>
            <a:ext cx="1512377" cy="3320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DAAD3ECD-4CBF-3182-B579-5E4AF4522907}"/>
              </a:ext>
            </a:extLst>
          </p:cNvPr>
          <p:cNvSpPr/>
          <p:nvPr/>
        </p:nvSpPr>
        <p:spPr>
          <a:xfrm>
            <a:off x="6452352" y="994971"/>
            <a:ext cx="1413744" cy="48355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6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4E1E1037-EDE0-1EA7-FA4C-C9F92B8DA697}"/>
              </a:ext>
            </a:extLst>
          </p:cNvPr>
          <p:cNvSpPr/>
          <p:nvPr/>
        </p:nvSpPr>
        <p:spPr>
          <a:xfrm>
            <a:off x="6415776" y="4239389"/>
            <a:ext cx="1479499" cy="40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Text 44">
            <a:extLst>
              <a:ext uri="{FF2B5EF4-FFF2-40B4-BE49-F238E27FC236}">
                <a16:creationId xmlns:a16="http://schemas.microsoft.com/office/drawing/2014/main" id="{BBAEF348-8D1E-56A4-9D80-00E1E6B099D5}"/>
              </a:ext>
            </a:extLst>
          </p:cNvPr>
          <p:cNvSpPr/>
          <p:nvPr/>
        </p:nvSpPr>
        <p:spPr>
          <a:xfrm>
            <a:off x="6397488" y="4739365"/>
            <a:ext cx="1512377" cy="1773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7" name="Text 55">
            <a:extLst>
              <a:ext uri="{FF2B5EF4-FFF2-40B4-BE49-F238E27FC236}">
                <a16:creationId xmlns:a16="http://schemas.microsoft.com/office/drawing/2014/main" id="{2EDF8935-5B7D-852D-F3E9-57479199C20A}"/>
              </a:ext>
            </a:extLst>
          </p:cNvPr>
          <p:cNvSpPr/>
          <p:nvPr/>
        </p:nvSpPr>
        <p:spPr>
          <a:xfrm>
            <a:off x="274320" y="5486400"/>
            <a:ext cx="116403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BD130814-77A6-1288-8030-9B7768FFDF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1004" y="1174968"/>
            <a:ext cx="1647534" cy="3521964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8AE7015F-1CB6-49EC-CEE7-F4ED392FF9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400" y="1171602"/>
            <a:ext cx="1615422" cy="3512136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741DAFBE-AF0F-42FE-FBA2-1AFE29A881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3350" y="1188160"/>
            <a:ext cx="1631472" cy="3547031"/>
          </a:xfrm>
          <a:prstGeom prst="rect">
            <a:avLst/>
          </a:prstGeom>
        </p:spPr>
      </p:pic>
      <p:sp>
        <p:nvSpPr>
          <p:cNvPr id="27" name="Shape 25">
            <a:extLst>
              <a:ext uri="{FF2B5EF4-FFF2-40B4-BE49-F238E27FC236}">
                <a16:creationId xmlns:a16="http://schemas.microsoft.com/office/drawing/2014/main" id="{8296DE4B-8294-9B5E-7306-A015626CC643}"/>
              </a:ext>
            </a:extLst>
          </p:cNvPr>
          <p:cNvSpPr/>
          <p:nvPr/>
        </p:nvSpPr>
        <p:spPr>
          <a:xfrm>
            <a:off x="850453" y="4393194"/>
            <a:ext cx="1636370" cy="581087"/>
          </a:xfrm>
          <a:prstGeom prst="roundRect">
            <a:avLst>
              <a:gd name="adj" fmla="val 36364"/>
            </a:avLst>
          </a:prstGeom>
          <a:ln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a-GE" sz="800" b="1" i="0" u="none" strike="noStrike" kern="1200" cap="none" spc="0" normalizeH="0" baseline="0" noProof="0" dirty="0" err="1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ხახლი</a:t>
            </a:r>
            <a:r>
              <a:rPr kumimoji="0" lang="ka-GE" sz="8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იღებს არასანდო ნომრიდან მესიჯებს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92DA2A14-D9AA-CE3D-EFF7-107CBEFB533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11236" y="1174968"/>
            <a:ext cx="1630815" cy="3545602"/>
          </a:xfrm>
          <a:prstGeom prst="rect">
            <a:avLst/>
          </a:prstGeom>
        </p:spPr>
      </p:pic>
      <p:sp>
        <p:nvSpPr>
          <p:cNvPr id="36" name="Shape 34">
            <a:extLst>
              <a:ext uri="{FF2B5EF4-FFF2-40B4-BE49-F238E27FC236}">
                <a16:creationId xmlns:a16="http://schemas.microsoft.com/office/drawing/2014/main" id="{BA0FB037-24FB-814E-6D42-98605FD54D28}"/>
              </a:ext>
            </a:extLst>
          </p:cNvPr>
          <p:cNvSpPr/>
          <p:nvPr/>
        </p:nvSpPr>
        <p:spPr>
          <a:xfrm>
            <a:off x="2709387" y="4381801"/>
            <a:ext cx="1645405" cy="591772"/>
          </a:xfrm>
          <a:prstGeom prst="roundRect">
            <a:avLst>
              <a:gd name="adj" fmla="val 36364"/>
            </a:avLst>
          </a:prstGeom>
          <a:ln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EE380C44-A697-AD3D-1953-F48B8F5E75D0}"/>
              </a:ext>
            </a:extLst>
          </p:cNvPr>
          <p:cNvSpPr/>
          <p:nvPr/>
        </p:nvSpPr>
        <p:spPr>
          <a:xfrm>
            <a:off x="2813567" y="4546678"/>
            <a:ext cx="1512377" cy="1773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a-GE" sz="8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ხალმა მიიღო მსგავსი </a:t>
            </a:r>
            <a:r>
              <a:rPr kumimoji="0" lang="en-US" sz="800" b="1" i="0" u="none" strike="noStrike" kern="1200" cap="none" spc="0" normalizeH="0" baseline="0" noProof="0" dirty="0" err="1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sms</a:t>
            </a: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kumimoji="0" lang="ka-GE" sz="8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შეტყობინებები 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7" name="Shape 34">
            <a:extLst>
              <a:ext uri="{FF2B5EF4-FFF2-40B4-BE49-F238E27FC236}">
                <a16:creationId xmlns:a16="http://schemas.microsoft.com/office/drawing/2014/main" id="{38EF0D9D-2E4B-A373-0C45-0082CAD49EB4}"/>
              </a:ext>
            </a:extLst>
          </p:cNvPr>
          <p:cNvSpPr/>
          <p:nvPr/>
        </p:nvSpPr>
        <p:spPr>
          <a:xfrm>
            <a:off x="4524502" y="4368028"/>
            <a:ext cx="1655785" cy="591772"/>
          </a:xfrm>
          <a:prstGeom prst="roundRect">
            <a:avLst>
              <a:gd name="adj" fmla="val 36364"/>
            </a:avLst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a-GE" sz="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გამოქვეყნებული განცხადება </a:t>
            </a:r>
            <a:r>
              <a:rPr kumimoji="0" lang="ka-GE" sz="800" b="1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საქ</a:t>
            </a:r>
            <a:r>
              <a:rPr kumimoji="0" lang="ka-GE" sz="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. საპატრულო პოლიციის.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9" name="Shape 34">
            <a:extLst>
              <a:ext uri="{FF2B5EF4-FFF2-40B4-BE49-F238E27FC236}">
                <a16:creationId xmlns:a16="http://schemas.microsoft.com/office/drawing/2014/main" id="{63B7E19E-4379-51F4-6F8A-E7288EE5A97D}"/>
              </a:ext>
            </a:extLst>
          </p:cNvPr>
          <p:cNvSpPr/>
          <p:nvPr/>
        </p:nvSpPr>
        <p:spPr>
          <a:xfrm>
            <a:off x="6309948" y="4352046"/>
            <a:ext cx="1658276" cy="591772"/>
          </a:xfrm>
          <a:prstGeom prst="roundRect">
            <a:avLst>
              <a:gd name="adj" fmla="val 36364"/>
            </a:avLst>
          </a:prstGeom>
          <a:ln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a-GE" sz="8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რადგან იყო ნიუანსები რითიც ხალხი მიხვდა რომ იყო ტყუილი --</a:t>
            </a:r>
            <a:r>
              <a:rPr kumimoji="0" lang="ka-GE" sz="8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  <a:sym typeface="Wingdings" panose="05000000000000000000" pitchFamily="2" charset="2"/>
              </a:rPr>
              <a:t>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336FC10-F596-2343-A18F-0C23A2D51CDF}"/>
              </a:ext>
            </a:extLst>
          </p:cNvPr>
          <p:cNvSpPr txBox="1"/>
          <p:nvPr/>
        </p:nvSpPr>
        <p:spPr>
          <a:xfrm>
            <a:off x="7966314" y="4331224"/>
            <a:ext cx="123284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a-GE" sz="8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დაიწყეს კომენტარების მეშვეობით სხვების გაფრთხილებაც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286071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1426"/>
          </a:solidFill>
          <a:ln w="12700">
            <a:solidFill>
              <a:srgbClr val="0D142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47472" y="164592"/>
            <a:ext cx="45720" cy="329184"/>
          </a:xfrm>
          <a:prstGeom prst="rect">
            <a:avLst/>
          </a:prstGeom>
          <a:solidFill>
            <a:srgbClr val="00B4FF"/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75488" y="16459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და ფიშინგი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8595360" cy="841248"/>
          </a:xfrm>
          <a:prstGeom prst="rect">
            <a:avLst/>
          </a:prstGeom>
          <a:solidFill>
            <a:srgbClr val="111827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84048" y="941832"/>
            <a:ext cx="502920" cy="502920"/>
          </a:xfrm>
          <a:prstGeom prst="ellipse">
            <a:avLst/>
          </a:prstGeom>
          <a:solidFill>
            <a:srgbClr val="00B4FF">
              <a:alpha val="25000"/>
            </a:srgbClr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94183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🤖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05840" y="850392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თარგმანი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1197864"/>
            <a:ext cx="7680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გრამატიკულად გამართული ტექსტი </a:t>
            </a:r>
            <a:r>
              <a:rPr lang="en-US" sz="1200" dirty="0" err="1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ნებისმიერ</a:t>
            </a: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ენაზე</a:t>
            </a:r>
            <a:endParaRPr lang="en-US" sz="1200" dirty="0">
              <a:solidFill>
                <a:srgbClr val="8899A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200" b="1" dirty="0" err="1">
                <a:solidFill>
                  <a:srgbClr val="4FC3F7"/>
                </a:solidFill>
                <a:latin typeface="Calibri" pitchFamily="34" charset="0"/>
                <a:cs typeface="Calibri" pitchFamily="34" charset="-120"/>
              </a:rPr>
              <a:t>მაგ</a:t>
            </a:r>
            <a:r>
              <a:rPr lang="en-US" sz="1200" b="1" dirty="0">
                <a:solidFill>
                  <a:srgbClr val="4FC3F7"/>
                </a:solidFill>
                <a:latin typeface="Calibri" pitchFamily="34" charset="0"/>
                <a:cs typeface="Calibri" pitchFamily="34" charset="-120"/>
              </a:rPr>
              <a:t>: ChatGPT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1783080"/>
            <a:ext cx="8595360" cy="841248"/>
          </a:xfrm>
          <a:prstGeom prst="rect">
            <a:avLst/>
          </a:prstGeom>
          <a:solidFill>
            <a:srgbClr val="111827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84048" y="1947672"/>
            <a:ext cx="502920" cy="502920"/>
          </a:xfrm>
          <a:prstGeom prst="ellipse">
            <a:avLst/>
          </a:prstGeom>
          <a:solidFill>
            <a:srgbClr val="E74C3C">
              <a:alpha val="25000"/>
            </a:srgbClr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194767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🦠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05840" y="1856232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Malware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05840" y="2203704"/>
            <a:ext cx="7680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ავტომატიზირებული მავნე პროგრამები</a:t>
            </a:r>
            <a:br>
              <a:rPr lang="en-US" sz="1050" b="1" dirty="0">
                <a:solidFill>
                  <a:srgbClr val="4FC3F7"/>
                </a:solidFill>
                <a:latin typeface="Calibri" pitchFamily="34" charset="0"/>
                <a:cs typeface="Calibri" pitchFamily="34" charset="-120"/>
              </a:rPr>
            </a:br>
            <a:r>
              <a:rPr lang="en-US" sz="1050" b="1" dirty="0">
                <a:solidFill>
                  <a:srgbClr val="4FC3F7"/>
                </a:solidFill>
                <a:latin typeface="Calibri" pitchFamily="34" charset="0"/>
                <a:cs typeface="Calibri" pitchFamily="34" charset="-120"/>
              </a:rPr>
              <a:t>მაგ: WormGPT, FraudGPT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74320" y="2788920"/>
            <a:ext cx="8595360" cy="841248"/>
          </a:xfrm>
          <a:prstGeom prst="rect">
            <a:avLst/>
          </a:prstGeom>
          <a:solidFill>
            <a:srgbClr val="111827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4048" y="2953512"/>
            <a:ext cx="502920" cy="502920"/>
          </a:xfrm>
          <a:prstGeom prst="ellipse">
            <a:avLst/>
          </a:prstGeom>
          <a:solidFill>
            <a:srgbClr val="F39C12">
              <a:alpha val="25000"/>
            </a:srgbClr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4048" y="295351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🎭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05840" y="2862072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Deepfake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05840" y="3209544"/>
            <a:ext cx="7680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 err="1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ყალ</a:t>
            </a:r>
            <a:r>
              <a:rPr lang="ka-GE" sz="1200" dirty="0" err="1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ბი</a:t>
            </a:r>
            <a:r>
              <a:rPr lang="ka-GE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ვიდეოებსა და ფოტოების </a:t>
            </a:r>
            <a:r>
              <a:rPr lang="ka-GE" sz="1200" dirty="0" err="1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დაგენერირება</a:t>
            </a:r>
            <a:br>
              <a:rPr lang="en-US" sz="1050" b="1" dirty="0">
                <a:solidFill>
                  <a:srgbClr val="4FC3F7"/>
                </a:solidFill>
                <a:latin typeface="Calibri" pitchFamily="34" charset="0"/>
                <a:cs typeface="Calibri" pitchFamily="34" charset="-120"/>
              </a:rPr>
            </a:br>
            <a:r>
              <a:rPr lang="en-US" sz="1050" b="1" dirty="0">
                <a:solidFill>
                  <a:srgbClr val="4FC3F7"/>
                </a:solidFill>
                <a:latin typeface="Calibri" pitchFamily="34" charset="0"/>
                <a:cs typeface="Calibri" pitchFamily="34" charset="-120"/>
              </a:rPr>
              <a:t>მაგ: DeepFaceLab, FaceSwap, HeyGen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74320" y="3794760"/>
            <a:ext cx="8595360" cy="841248"/>
          </a:xfrm>
          <a:prstGeom prst="rect">
            <a:avLst/>
          </a:prstGeom>
          <a:solidFill>
            <a:srgbClr val="111827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048" y="3959352"/>
            <a:ext cx="502920" cy="502920"/>
          </a:xfrm>
          <a:prstGeom prst="ellipse">
            <a:avLst/>
          </a:prstGeom>
          <a:solidFill>
            <a:srgbClr val="27AE60">
              <a:alpha val="25000"/>
            </a:srgbClr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84048" y="39593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🔊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005840" y="3867912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ხმის კლონირება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005840" y="4215384"/>
            <a:ext cx="7680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 err="1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ნაცნობი</a:t>
            </a: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ხმის</a:t>
            </a: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იმიტაცი</a:t>
            </a:r>
            <a:r>
              <a:rPr lang="ka-GE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ის გამოყენება</a:t>
            </a: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სატელეფონო თაღლითობაში</a:t>
            </a:r>
            <a:br>
              <a:rPr lang="en-US" sz="1050" b="1" dirty="0">
                <a:solidFill>
                  <a:srgbClr val="4FC3F7"/>
                </a:solidFill>
                <a:latin typeface="Calibri" pitchFamily="34" charset="0"/>
                <a:cs typeface="Calibri" pitchFamily="34" charset="-120"/>
              </a:rPr>
            </a:br>
            <a:r>
              <a:rPr lang="en-US" sz="1050" b="1" dirty="0">
                <a:solidFill>
                  <a:srgbClr val="4FC3F7"/>
                </a:solidFill>
                <a:latin typeface="Calibri" pitchFamily="34" charset="0"/>
                <a:cs typeface="Calibri" pitchFamily="34" charset="-120"/>
              </a:rPr>
              <a:t>მაგ: ElevenLabs, Resemble AI, VALL-E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732520" y="4663440"/>
            <a:ext cx="256032" cy="256032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732520" y="466344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9AA"/>
                </a:solidFill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1426"/>
          </a:solidFill>
          <a:ln w="12700">
            <a:solidFill>
              <a:srgbClr val="0D142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47472" y="164592"/>
            <a:ext cx="45720" cy="329184"/>
          </a:xfrm>
          <a:prstGeom prst="rect">
            <a:avLst/>
          </a:prstGeom>
          <a:solidFill>
            <a:srgbClr val="00B4FF"/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75488" y="16459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ფიშინგის სტატისტიკა (2025–2026)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01168" y="749808"/>
            <a:ext cx="2011680" cy="3291840"/>
          </a:xfrm>
          <a:prstGeom prst="rect">
            <a:avLst/>
          </a:prstGeom>
          <a:solidFill>
            <a:srgbClr val="111827"/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01168" y="749808"/>
            <a:ext cx="2011680" cy="45720"/>
          </a:xfrm>
          <a:prstGeom prst="rect">
            <a:avLst/>
          </a:prstGeom>
          <a:solidFill>
            <a:srgbClr val="00B4FF"/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01168" y="1097280"/>
            <a:ext cx="20116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0B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3.4B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201168" y="2286000"/>
            <a:ext cx="20116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ფიშინგ ელ-ფოსტა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ყოველდღიურად (APWG)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432304" y="749808"/>
            <a:ext cx="2011680" cy="3291840"/>
          </a:xfrm>
          <a:prstGeom prst="rect">
            <a:avLst/>
          </a:prstGeom>
          <a:solidFill>
            <a:srgbClr val="111827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432304" y="749808"/>
            <a:ext cx="2011680" cy="45720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32304" y="1097280"/>
            <a:ext cx="20116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2432304" y="2286000"/>
            <a:ext cx="20116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მონაცემთა გაჟონვა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ფიშინგით (Verizon DBIR)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749808"/>
            <a:ext cx="2011680" cy="3291840"/>
          </a:xfrm>
          <a:prstGeom prst="rect">
            <a:avLst/>
          </a:prstGeom>
          <a:solidFill>
            <a:srgbClr val="111827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663440" y="749808"/>
            <a:ext cx="2011680" cy="4572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0" y="1097280"/>
            <a:ext cx="20116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$4.88M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4663440" y="2286000"/>
            <a:ext cx="20116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საშ. ზარალი ერთ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შეტევაზე (IBM 2025)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894576" y="749808"/>
            <a:ext cx="2011680" cy="3291840"/>
          </a:xfrm>
          <a:prstGeom prst="rect">
            <a:avLst/>
          </a:prstGeom>
          <a:solidFill>
            <a:srgbClr val="111827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894576" y="749808"/>
            <a:ext cx="2011680" cy="45720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94576" y="1097280"/>
            <a:ext cx="20116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82.6%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6894576" y="2286000"/>
            <a:ext cx="20116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ფიშინგ ელ-ფოსტა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AI-ით გენერირებული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732520" y="4663440"/>
            <a:ext cx="256032" cy="256032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32520" y="466344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9AA"/>
                </a:solidFill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C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0C4AB-173C-8F88-AFFB-B50C4814F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1BAA89F-00AA-6299-C1DD-ABDA372B6F50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1426"/>
          </a:solidFill>
          <a:ln w="12700">
            <a:solidFill>
              <a:srgbClr val="0D1426"/>
            </a:solidFill>
            <a:prstDash val="solid"/>
          </a:ln>
        </p:spPr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037294EB-8331-65B9-5652-6AADBC2031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08440" cy="5134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7894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C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CE4F0C4-BCC8-7CDE-F319-E1054ACABB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11D7220-A4AC-0CC3-9D10-64548766BDDE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1426"/>
          </a:solidFill>
          <a:ln w="12700">
            <a:solidFill>
              <a:srgbClr val="0D1426"/>
            </a:solidFill>
            <a:prstDash val="solid"/>
          </a:ln>
        </p:spPr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044C99-C38E-A198-7D2A-B8E907BE20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8896"/>
            <a:ext cx="9144000" cy="5221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34300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1426"/>
          </a:solidFill>
          <a:ln w="12700">
            <a:solidFill>
              <a:srgbClr val="0D142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47472" y="164592"/>
            <a:ext cx="45720" cy="329184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75488" y="16459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ტექნიკური მექანიზმები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8595360" cy="731520"/>
          </a:xfrm>
          <a:prstGeom prst="rect">
            <a:avLst/>
          </a:prstGeom>
          <a:solidFill>
            <a:srgbClr val="111827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777240"/>
            <a:ext cx="54864" cy="731520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777240"/>
            <a:ext cx="502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🖥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87552" y="822960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 Landing Pages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87552" y="11430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ვიზუალური კლონი CSS/HTML-ით — identicial copy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4320" y="1645920"/>
            <a:ext cx="8595360" cy="731520"/>
          </a:xfrm>
          <a:prstGeom prst="rect">
            <a:avLst/>
          </a:prstGeom>
          <a:solidFill>
            <a:srgbClr val="111827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74320" y="1645920"/>
            <a:ext cx="54864" cy="731520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645920"/>
            <a:ext cx="502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✉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87552" y="1691640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Spoofing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87552" y="20116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გამომგზავნის მისამართის გაყალბება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74320" y="2514600"/>
            <a:ext cx="8595360" cy="731520"/>
          </a:xfrm>
          <a:prstGeom prst="rect">
            <a:avLst/>
          </a:prstGeom>
          <a:solidFill>
            <a:srgbClr val="111827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4320" y="2514600"/>
            <a:ext cx="54864" cy="731520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2514600"/>
            <a:ext cx="502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🔗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87552" y="2560320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მანიპულაცია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87552" y="28803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faceb00k.com, 1nstagram-verify.account-secure.com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4320" y="3383280"/>
            <a:ext cx="8595360" cy="731520"/>
          </a:xfrm>
          <a:prstGeom prst="rect">
            <a:avLst/>
          </a:prstGeom>
          <a:solidFill>
            <a:srgbClr val="111827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74320" y="3383280"/>
            <a:ext cx="54864" cy="731520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3383280"/>
            <a:ext cx="502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🔑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87552" y="3429000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 Harvesting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87552" y="37490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username + password → attacker database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74320" y="4251960"/>
            <a:ext cx="8595360" cy="731520"/>
          </a:xfrm>
          <a:prstGeom prst="rect">
            <a:avLst/>
          </a:prstGeom>
          <a:solidFill>
            <a:srgbClr val="111827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74320" y="4251960"/>
            <a:ext cx="54864" cy="731520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4251960"/>
            <a:ext cx="502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⚡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987552" y="4297680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AiTM Proxy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987552" y="4617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2FA-ს </a:t>
            </a:r>
            <a:r>
              <a:rPr lang="en-US" sz="1100" dirty="0" err="1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რეა</a:t>
            </a:r>
            <a:r>
              <a:rPr lang="ka-GE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ლურ დროში </a:t>
            </a:r>
            <a:r>
              <a:rPr lang="en-US" sz="1100" dirty="0" err="1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ინტერცეფცია</a:t>
            </a: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Adversary-in-the-Middle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732520" y="4663440"/>
            <a:ext cx="256032" cy="256032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32520" y="466344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9AA"/>
                </a:solidFill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1426"/>
          </a:solidFill>
          <a:ln w="12700">
            <a:solidFill>
              <a:srgbClr val="0D142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47472" y="164592"/>
            <a:ext cx="45720" cy="329184"/>
          </a:xfrm>
          <a:prstGeom prst="rect">
            <a:avLst/>
          </a:prstGeom>
          <a:solidFill>
            <a:srgbClr val="00B4FF"/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75488" y="16459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პრაქტიკული სიმულაცია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943600" y="749808"/>
            <a:ext cx="3017520" cy="411480"/>
          </a:xfrm>
          <a:prstGeom prst="rect">
            <a:avLst/>
          </a:prstGeom>
          <a:solidFill>
            <a:srgbClr val="0D2137"/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0" y="749808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B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🔗  techop.vercel.app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74320" y="1453896"/>
            <a:ext cx="274320" cy="274320"/>
          </a:xfrm>
          <a:prstGeom prst="ellipse">
            <a:avLst/>
          </a:prstGeom>
          <a:solidFill>
            <a:srgbClr val="00B4FF">
              <a:alpha val="30000"/>
            </a:srgbClr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45389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0000"/>
                </a:solidFill>
              </a:rPr>
              <a:t>🛒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58368" y="1298448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Facebook</a:t>
            </a:r>
            <a:r>
              <a:rPr lang="ka-GE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-ისა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და Instagram-ის ვიზუალური კლონები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4320" y="2066544"/>
            <a:ext cx="274320" cy="274320"/>
          </a:xfrm>
          <a:prstGeom prst="ellipse">
            <a:avLst/>
          </a:prstGeom>
          <a:solidFill>
            <a:srgbClr val="00B4FF">
              <a:alpha val="30000"/>
            </a:srgbClr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20665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0000"/>
                </a:solidFill>
              </a:rPr>
              <a:t>💳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58368" y="1911096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BOG-ის საბანკო გადახდის სიმულაცია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74320" y="2679192"/>
            <a:ext cx="274320" cy="274320"/>
          </a:xfrm>
          <a:prstGeom prst="ellipse">
            <a:avLst/>
          </a:prstGeom>
          <a:solidFill>
            <a:srgbClr val="00B4FF">
              <a:alpha val="30000"/>
            </a:srgbClr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4320" y="26791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0000"/>
                </a:solidFill>
              </a:rPr>
              <a:t>⚙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8368" y="2523744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ASP.NET Core 8 Backend + PostgreSQL მონაცემთა ბაზა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74320" y="3291840"/>
            <a:ext cx="274320" cy="274320"/>
          </a:xfrm>
          <a:prstGeom prst="ellipse">
            <a:avLst/>
          </a:prstGeom>
          <a:solidFill>
            <a:srgbClr val="00B4FF">
              <a:alpha val="30000"/>
            </a:srgbClr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" y="32918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0000"/>
                </a:solidFill>
              </a:rPr>
              <a:t>☁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8368" y="3136392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Railway (Backend) + Vercel (Frontend) 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74320" y="3904488"/>
            <a:ext cx="274320" cy="274320"/>
          </a:xfrm>
          <a:prstGeom prst="ellipse">
            <a:avLst/>
          </a:prstGeom>
          <a:solidFill>
            <a:srgbClr val="00B4FF">
              <a:alpha val="30000"/>
            </a:srgbClr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4320" y="390448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0000"/>
                </a:solidFill>
              </a:rPr>
              <a:t>📊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58368" y="3749040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Panel — რეალდროული მონაცემების მონიტორინგი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274320" y="4517136"/>
            <a:ext cx="274320" cy="274320"/>
          </a:xfrm>
          <a:prstGeom prst="ellipse">
            <a:avLst/>
          </a:prstGeom>
          <a:solidFill>
            <a:srgbClr val="00B4FF">
              <a:alpha val="30000"/>
            </a:srgbClr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4320" y="451713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0000"/>
                </a:solidFill>
              </a:rPr>
              <a:t>🔔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58368" y="4361688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ინდიკატორები + ფიშინგის ნიშნების ჩვენება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732520" y="4663440"/>
            <a:ext cx="256032" cy="256032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732520" y="466344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9AA"/>
                </a:solidFill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1426"/>
          </a:solidFill>
          <a:ln w="12700">
            <a:solidFill>
              <a:srgbClr val="0D142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47472" y="164592"/>
            <a:ext cx="45720" cy="329184"/>
          </a:xfrm>
          <a:prstGeom prst="rect">
            <a:avLst/>
          </a:prstGeom>
          <a:solidFill>
            <a:srgbClr val="00B4FF"/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75488" y="16459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სისტემის არქიტექტურა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95459" y="1499616"/>
            <a:ext cx="1279657" cy="1554480"/>
          </a:xfrm>
          <a:prstGeom prst="rect">
            <a:avLst/>
          </a:prstGeom>
          <a:solidFill>
            <a:srgbClr val="111827"/>
          </a:solidFill>
          <a:ln w="12700">
            <a:solidFill>
              <a:srgbClr val="8899A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459" y="1499616"/>
            <a:ext cx="1279657" cy="45720"/>
          </a:xfrm>
          <a:prstGeom prst="rect">
            <a:avLst/>
          </a:prstGeom>
          <a:solidFill>
            <a:srgbClr val="8899AA"/>
          </a:solidFill>
          <a:ln w="12700">
            <a:solidFill>
              <a:srgbClr val="8899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5459" y="1636776"/>
            <a:ext cx="1279657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👤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5459" y="2276856"/>
            <a:ext cx="1279657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მომხ‍მარ‍ებელი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488279" y="2276856"/>
            <a:ext cx="526918" cy="0"/>
          </a:xfrm>
          <a:prstGeom prst="line">
            <a:avLst/>
          </a:prstGeom>
          <a:noFill/>
          <a:ln w="19050">
            <a:solidFill>
              <a:srgbClr val="00B4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88279" y="2139696"/>
            <a:ext cx="52691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B4FF"/>
                </a:solidFill>
              </a:rPr>
              <a:t>→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015699" y="1499616"/>
            <a:ext cx="1279657" cy="1554480"/>
          </a:xfrm>
          <a:prstGeom prst="rect">
            <a:avLst/>
          </a:prstGeom>
          <a:solidFill>
            <a:srgbClr val="111827"/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015699" y="1499616"/>
            <a:ext cx="1279657" cy="45720"/>
          </a:xfrm>
          <a:prstGeom prst="rect">
            <a:avLst/>
          </a:prstGeom>
          <a:solidFill>
            <a:srgbClr val="00B4FF"/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015699" y="1636776"/>
            <a:ext cx="1279657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🖥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2015699" y="2276856"/>
            <a:ext cx="1279657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408519" y="2276856"/>
            <a:ext cx="526918" cy="0"/>
          </a:xfrm>
          <a:prstGeom prst="line">
            <a:avLst/>
          </a:prstGeom>
          <a:noFill/>
          <a:ln w="19050">
            <a:solidFill>
              <a:srgbClr val="00B4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08519" y="2139696"/>
            <a:ext cx="52691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B4FF"/>
                </a:solidFill>
              </a:rPr>
              <a:t>→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935939" y="1499616"/>
            <a:ext cx="1279657" cy="1554480"/>
          </a:xfrm>
          <a:prstGeom prst="rect">
            <a:avLst/>
          </a:prstGeom>
          <a:solidFill>
            <a:srgbClr val="111827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935939" y="1499616"/>
            <a:ext cx="1279657" cy="45720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935939" y="1636776"/>
            <a:ext cx="1279657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🔑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3935939" y="2276856"/>
            <a:ext cx="1279657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Harvest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328759" y="2276856"/>
            <a:ext cx="526918" cy="0"/>
          </a:xfrm>
          <a:prstGeom prst="line">
            <a:avLst/>
          </a:prstGeom>
          <a:noFill/>
          <a:ln w="19050">
            <a:solidFill>
              <a:srgbClr val="00B4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28759" y="2139696"/>
            <a:ext cx="52691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B4FF"/>
                </a:solidFill>
              </a:rPr>
              <a:t>→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856179" y="1499616"/>
            <a:ext cx="1279657" cy="1554480"/>
          </a:xfrm>
          <a:prstGeom prst="rect">
            <a:avLst/>
          </a:prstGeom>
          <a:solidFill>
            <a:srgbClr val="111827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856179" y="1499616"/>
            <a:ext cx="1279657" cy="4572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856179" y="1636776"/>
            <a:ext cx="1279657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🗄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5856179" y="2276856"/>
            <a:ext cx="1279657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248999" y="2276856"/>
            <a:ext cx="526918" cy="0"/>
          </a:xfrm>
          <a:prstGeom prst="line">
            <a:avLst/>
          </a:prstGeom>
          <a:noFill/>
          <a:ln w="19050">
            <a:solidFill>
              <a:srgbClr val="00B4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48999" y="2139696"/>
            <a:ext cx="52691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B4FF"/>
                </a:solidFill>
              </a:rPr>
              <a:t>→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776419" y="1499616"/>
            <a:ext cx="1279657" cy="1554480"/>
          </a:xfrm>
          <a:prstGeom prst="rect">
            <a:avLst/>
          </a:prstGeom>
          <a:solidFill>
            <a:srgbClr val="111827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76419" y="1499616"/>
            <a:ext cx="1279657" cy="4572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76419" y="1636776"/>
            <a:ext cx="1279657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📊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7776419" y="2276856"/>
            <a:ext cx="1279657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274320" y="33375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ტექნოლოგიები: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74320" y="3730752"/>
            <a:ext cx="1600200" cy="365760"/>
          </a:xfrm>
          <a:prstGeom prst="rect">
            <a:avLst/>
          </a:prstGeom>
          <a:solidFill>
            <a:srgbClr val="0D1E35"/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4320" y="3730752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B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HTML/CSS/JS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2011680" y="3730752"/>
            <a:ext cx="1600200" cy="365760"/>
          </a:xfrm>
          <a:prstGeom prst="rect">
            <a:avLst/>
          </a:prstGeom>
          <a:solidFill>
            <a:srgbClr val="0D1E35"/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11680" y="3730752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B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ASP.NET Core 8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749040" y="3730752"/>
            <a:ext cx="1600200" cy="365760"/>
          </a:xfrm>
          <a:prstGeom prst="rect">
            <a:avLst/>
          </a:prstGeom>
          <a:solidFill>
            <a:srgbClr val="0D1E35"/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749040" y="3730752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B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Railway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5486400" y="3730752"/>
            <a:ext cx="1600200" cy="365760"/>
          </a:xfrm>
          <a:prstGeom prst="rect">
            <a:avLst/>
          </a:prstGeom>
          <a:solidFill>
            <a:srgbClr val="0D1E35"/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486400" y="3730752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B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7223760" y="3730752"/>
            <a:ext cx="1600200" cy="365760"/>
          </a:xfrm>
          <a:prstGeom prst="rect">
            <a:avLst/>
          </a:prstGeom>
          <a:solidFill>
            <a:srgbClr val="0D1E35"/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23760" y="3730752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B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8732520" y="4663440"/>
            <a:ext cx="256032" cy="256032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732520" y="466344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9AA"/>
                </a:solidFill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1426"/>
          </a:solidFill>
          <a:ln w="12700">
            <a:solidFill>
              <a:srgbClr val="0D142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47472" y="164592"/>
            <a:ext cx="45720" cy="329184"/>
          </a:xfrm>
          <a:prstGeom prst="rect">
            <a:avLst/>
          </a:prstGeom>
          <a:solidFill>
            <a:srgbClr val="00B4FF"/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75488" y="16459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ექსპერიმენტი და ანალიზი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786384"/>
            <a:ext cx="8595360" cy="713232"/>
          </a:xfrm>
          <a:prstGeom prst="rect">
            <a:avLst/>
          </a:prstGeom>
          <a:solidFill>
            <a:srgbClr val="111827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786384"/>
            <a:ext cx="594360" cy="713232"/>
          </a:xfrm>
          <a:prstGeom prst="rect">
            <a:avLst/>
          </a:prstGeom>
          <a:solidFill>
            <a:srgbClr val="00B4FF">
              <a:alpha val="20000"/>
            </a:srgbClr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786384"/>
            <a:ext cx="5943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B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60120" y="832104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შეტყობინება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60120" y="1133856"/>
            <a:ext cx="7818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მონაწილეებს ეგზავნებათ სიმულაციური ბმული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4320" y="1636776"/>
            <a:ext cx="8595360" cy="713232"/>
          </a:xfrm>
          <a:prstGeom prst="rect">
            <a:avLst/>
          </a:prstGeom>
          <a:solidFill>
            <a:srgbClr val="111827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74320" y="1636776"/>
            <a:ext cx="594360" cy="713232"/>
          </a:xfrm>
          <a:prstGeom prst="rect">
            <a:avLst/>
          </a:prstGeom>
          <a:solidFill>
            <a:srgbClr val="00B4FF">
              <a:alpha val="20000"/>
            </a:srgbClr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1636776"/>
            <a:ext cx="5943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B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60120" y="1682496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ქმედება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60120" y="1984248"/>
            <a:ext cx="7818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ფიქსირდება: გახსნა → ბმულზე დაჭერა → მონაცემების შეყვანა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74320" y="2487168"/>
            <a:ext cx="8595360" cy="713232"/>
          </a:xfrm>
          <a:prstGeom prst="rect">
            <a:avLst/>
          </a:prstGeom>
          <a:solidFill>
            <a:srgbClr val="111827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4320" y="2487168"/>
            <a:ext cx="594360" cy="713232"/>
          </a:xfrm>
          <a:prstGeom prst="rect">
            <a:avLst/>
          </a:prstGeom>
          <a:solidFill>
            <a:srgbClr val="00B4FF">
              <a:alpha val="20000"/>
            </a:srgbClr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" y="2487168"/>
            <a:ext cx="5943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B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60120" y="253288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შეფასება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60120" y="2834640"/>
            <a:ext cx="7818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წარმატებული შეტევების პროცენტული მაჩვენებელი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4320" y="3337560"/>
            <a:ext cx="8595360" cy="713232"/>
          </a:xfrm>
          <a:prstGeom prst="rect">
            <a:avLst/>
          </a:prstGeom>
          <a:solidFill>
            <a:srgbClr val="111827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74320" y="3337560"/>
            <a:ext cx="594360" cy="713232"/>
          </a:xfrm>
          <a:prstGeom prst="rect">
            <a:avLst/>
          </a:prstGeom>
          <a:solidFill>
            <a:srgbClr val="00B4FF">
              <a:alpha val="20000"/>
            </a:srgbClr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4320" y="3337560"/>
            <a:ext cx="5943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B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60120" y="33832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ეთიკა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60120" y="3685032"/>
            <a:ext cx="7818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მონაწილეები ინფორმირდებიან ექსპერიმენტის შემდეგ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74320" y="4187952"/>
            <a:ext cx="8595360" cy="713232"/>
          </a:xfrm>
          <a:prstGeom prst="rect">
            <a:avLst/>
          </a:prstGeom>
          <a:solidFill>
            <a:srgbClr val="111827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74320" y="4187952"/>
            <a:ext cx="594360" cy="713232"/>
          </a:xfrm>
          <a:prstGeom prst="rect">
            <a:avLst/>
          </a:prstGeom>
          <a:solidFill>
            <a:srgbClr val="00B4FF">
              <a:alpha val="20000"/>
            </a:srgbClr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74320" y="4187952"/>
            <a:ext cx="5943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B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60120" y="4233672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დასკვნა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960120" y="4535424"/>
            <a:ext cx="7818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მიღებული შედეგების ხარისხობრივი ანალიზი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732520" y="4663440"/>
            <a:ext cx="256032" cy="256032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32520" y="466344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9AA"/>
                </a:solidFill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1426"/>
          </a:solidFill>
          <a:ln w="12700">
            <a:solidFill>
              <a:srgbClr val="0D142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47472" y="164592"/>
            <a:ext cx="45720" cy="329184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75488" y="16459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ისტორიის უდიდესი ფიშინგ შეტევები</a:t>
            </a:r>
            <a:endParaRPr lang="en-US" sz="2200" dirty="0"/>
          </a:p>
        </p:txBody>
      </p:sp>
      <p:pic>
        <p:nvPicPr>
          <p:cNvPr id="5" name="Image 0" descr="https://images.unsplash.com/photo-1550751827-4bd374c3f58b?w=500&amp;h=900&amp;fit=crop&amp;q=80"/>
          <p:cNvPicPr>
            <a:picLocks noChangeAspect="1"/>
          </p:cNvPicPr>
          <p:nvPr/>
        </p:nvPicPr>
        <p:blipFill>
          <a:blip r:embed="rId3">
            <a:alphaModFix amt="45000"/>
          </a:blip>
          <a:srcRect/>
          <a:stretch/>
        </p:blipFill>
        <p:spPr>
          <a:xfrm>
            <a:off x="6858000" y="749808"/>
            <a:ext cx="2103120" cy="4114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675120" y="749808"/>
            <a:ext cx="457200" cy="4114800"/>
          </a:xfrm>
          <a:prstGeom prst="rect">
            <a:avLst/>
          </a:prstGeom>
          <a:solidFill>
            <a:srgbClr val="080C18"/>
          </a:solidFill>
          <a:ln w="12700">
            <a:solidFill>
              <a:srgbClr val="080C1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28600" y="768096"/>
            <a:ext cx="6492240" cy="548640"/>
          </a:xfrm>
          <a:prstGeom prst="rect">
            <a:avLst/>
          </a:prstGeom>
          <a:solidFill>
            <a:srgbClr val="111827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28600" y="768096"/>
            <a:ext cx="54864" cy="548640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29184" y="768096"/>
            <a:ext cx="594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2011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978408" y="795528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RSA SecurID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" y="1042416"/>
            <a:ext cx="5577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ყალბი Excel ფაილი — 40 მილიონი SecurID ტოკენი კომპრომეტირებული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28600" y="1389888"/>
            <a:ext cx="6492240" cy="548640"/>
          </a:xfrm>
          <a:prstGeom prst="rect">
            <a:avLst/>
          </a:prstGeom>
          <a:solidFill>
            <a:srgbClr val="111827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28600" y="1389888"/>
            <a:ext cx="54864" cy="548640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29184" y="1389888"/>
            <a:ext cx="594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978408" y="141732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Corp.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2578608" y="1417320"/>
            <a:ext cx="777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$200M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978408" y="1664208"/>
            <a:ext cx="5577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HVAC მომწოდებელზე spear phishing → 40 მლნ ბარათის მონაცემი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228600" y="2011680"/>
            <a:ext cx="6492240" cy="548640"/>
          </a:xfrm>
          <a:prstGeom prst="rect">
            <a:avLst/>
          </a:prstGeom>
          <a:solidFill>
            <a:srgbClr val="111827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28600" y="2011680"/>
            <a:ext cx="54864" cy="548640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29184" y="2011680"/>
            <a:ext cx="594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2014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978408" y="2039112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Sony Pictures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2578608" y="2039112"/>
            <a:ext cx="777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$100M+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78408" y="2286000"/>
            <a:ext cx="5577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სერია ყალბი IT ელ-ფოსტა → ყველა ფაილი გამოქვეყნდა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228600" y="2633472"/>
            <a:ext cx="6492240" cy="548640"/>
          </a:xfrm>
          <a:prstGeom prst="rect">
            <a:avLst/>
          </a:prstGeom>
          <a:solidFill>
            <a:srgbClr val="111827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28600" y="2633472"/>
            <a:ext cx="54864" cy="548640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329184" y="2633472"/>
            <a:ext cx="594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2016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978408" y="2660904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Bangladesh Bank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2578608" y="2660904"/>
            <a:ext cx="777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$81M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978408" y="2907792"/>
            <a:ext cx="5577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SWIFT ქსელი + spear phishing → $81 მლნ გადარიცხული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228600" y="3255264"/>
            <a:ext cx="6492240" cy="548640"/>
          </a:xfrm>
          <a:prstGeom prst="rect">
            <a:avLst/>
          </a:prstGeom>
          <a:solidFill>
            <a:srgbClr val="111827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28600" y="3255264"/>
            <a:ext cx="54864" cy="548640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329184" y="3255264"/>
            <a:ext cx="594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2016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978408" y="3282696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Podesta / Clinton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978408" y="3529584"/>
            <a:ext cx="5577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ყალბი Gmail ბმული → არჩევნების კამპანიის ელ-ფოსტა გაჟონა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228600" y="3877056"/>
            <a:ext cx="6492240" cy="548640"/>
          </a:xfrm>
          <a:prstGeom prst="rect">
            <a:avLst/>
          </a:prstGeom>
          <a:solidFill>
            <a:srgbClr val="111827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228600" y="3877056"/>
            <a:ext cx="54864" cy="548640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329184" y="3877056"/>
            <a:ext cx="594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978408" y="3904488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Twitter (Bitcoin)</a:t>
            </a:r>
            <a:endParaRPr lang="en-US" sz="1100" dirty="0"/>
          </a:p>
        </p:txBody>
      </p:sp>
      <p:sp>
        <p:nvSpPr>
          <p:cNvPr id="39" name="Text 36"/>
          <p:cNvSpPr/>
          <p:nvPr/>
        </p:nvSpPr>
        <p:spPr>
          <a:xfrm>
            <a:off x="2578608" y="3904488"/>
            <a:ext cx="777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$120K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978408" y="4151376"/>
            <a:ext cx="5577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თანამშრომლებზე vishing → Obama, Musk, Gates ანგარიშები გატეხეს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228600" y="4498848"/>
            <a:ext cx="6492240" cy="548640"/>
          </a:xfrm>
          <a:prstGeom prst="rect">
            <a:avLst/>
          </a:prstGeom>
          <a:solidFill>
            <a:srgbClr val="111827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228600" y="4498848"/>
            <a:ext cx="54864" cy="548640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329184" y="4498848"/>
            <a:ext cx="594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978408" y="452628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Uber</a:t>
            </a:r>
            <a:endParaRPr lang="en-US" sz="1100" dirty="0"/>
          </a:p>
        </p:txBody>
      </p:sp>
      <p:sp>
        <p:nvSpPr>
          <p:cNvPr id="45" name="Text 42"/>
          <p:cNvSpPr/>
          <p:nvPr/>
        </p:nvSpPr>
        <p:spPr>
          <a:xfrm>
            <a:off x="978408" y="4773168"/>
            <a:ext cx="5577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MFA Fatigue + spear phishing → სრული ინფრასტრუქტურა კომპრომეტირდა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8732520" y="4663440"/>
            <a:ext cx="256032" cy="256032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8732520" y="466344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9AA"/>
                </a:solidFill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1426"/>
          </a:solidFill>
          <a:ln w="12700">
            <a:solidFill>
              <a:srgbClr val="0D142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47472" y="164592"/>
            <a:ext cx="45720" cy="329184"/>
          </a:xfrm>
          <a:prstGeom prst="rect">
            <a:avLst/>
          </a:prstGeom>
          <a:solidFill>
            <a:srgbClr val="00B4FF"/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75488" y="16459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რეკომენდაციები და პრევენცია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28600" y="749808"/>
            <a:ext cx="4251960" cy="4114800"/>
          </a:xfrm>
          <a:prstGeom prst="rect">
            <a:avLst/>
          </a:prstGeom>
          <a:solidFill>
            <a:srgbClr val="111827"/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749808"/>
            <a:ext cx="4251960" cy="45720"/>
          </a:xfrm>
          <a:prstGeom prst="rect">
            <a:avLst/>
          </a:prstGeom>
          <a:solidFill>
            <a:srgbClr val="00B4FF"/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841248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B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  ტექნიკური დაცვა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11480" y="1389888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2FA ჩართვა ყველა ანგარიშზე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11480" y="2029968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URL-ის ყოველთვის გადამოწმება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11480" y="2670048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Password Manager გამოყენება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11480" y="3310128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Anti-phishing ფილტრები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11480" y="3950208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HTTPS და სერტიფიკატის შემოწმება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749808"/>
            <a:ext cx="4251960" cy="4114800"/>
          </a:xfrm>
          <a:prstGeom prst="rect">
            <a:avLst/>
          </a:prstGeom>
          <a:solidFill>
            <a:srgbClr val="111827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663440" y="749808"/>
            <a:ext cx="4251960" cy="4572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54880" y="841248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🎓  ცნობიერების ამაღლება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754880" y="1389888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სასწავლო პროგრამები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54880" y="2029968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სიმულაციური ვარჯიშები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54880" y="2670048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სასწრაფო მოქმედებისადმი სკეპტიციზმი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754880" y="3310128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IT სამსახურის ინფორმირება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754880" y="3950208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რეგულარული უსაფრთხოების ტრენინგი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732520" y="4663440"/>
            <a:ext cx="256032" cy="256032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32520" y="466344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9AA"/>
                </a:solidFill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1426"/>
          </a:solidFill>
          <a:ln w="12700">
            <a:solidFill>
              <a:srgbClr val="0D142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47472" y="164592"/>
            <a:ext cx="45720" cy="329184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75488" y="16459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დასკვნა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0" y="457200"/>
            <a:ext cx="3657600" cy="3657600"/>
          </a:xfrm>
          <a:prstGeom prst="ellipse">
            <a:avLst/>
          </a:prstGeom>
          <a:solidFill>
            <a:srgbClr val="E74C3C">
              <a:alpha val="7000"/>
            </a:srgbClr>
          </a:solidFill>
          <a:ln w="12700">
            <a:solidFill>
              <a:srgbClr val="E74C3C">
                <a:alpha val="7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804672"/>
            <a:ext cx="6858000" cy="713232"/>
          </a:xfrm>
          <a:prstGeom prst="rect">
            <a:avLst/>
          </a:prstGeom>
          <a:solidFill>
            <a:srgbClr val="111827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7472" y="804672"/>
            <a:ext cx="548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🥇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60120" y="804672"/>
            <a:ext cx="60807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ფიშინგი კვლავ რჩება კიბერშეტევების #1 მეთოდი მსოფლიოში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74320" y="1655064"/>
            <a:ext cx="6858000" cy="713232"/>
          </a:xfrm>
          <a:prstGeom prst="rect">
            <a:avLst/>
          </a:prstGeom>
          <a:solidFill>
            <a:srgbClr val="111827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7472" y="1655064"/>
            <a:ext cx="548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🤖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60120" y="1655064"/>
            <a:ext cx="61722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კიდევ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a-GE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თითქმის შეუძლებელს ხდის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ყალბის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ამოცნობას — Deepfake, Voice Clone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74320" y="2505456"/>
            <a:ext cx="6858000" cy="713232"/>
          </a:xfrm>
          <a:prstGeom prst="rect">
            <a:avLst/>
          </a:prstGeom>
          <a:solidFill>
            <a:srgbClr val="111827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7472" y="2505456"/>
            <a:ext cx="548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👤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960120" y="2505456"/>
            <a:ext cx="60807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პრაქტიკული სიმულაცია: ადამიანური ფაქტორი ყველაზე სუსტი რგოლია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74320" y="3355848"/>
            <a:ext cx="6858000" cy="713232"/>
          </a:xfrm>
          <a:prstGeom prst="rect">
            <a:avLst/>
          </a:prstGeom>
          <a:solidFill>
            <a:srgbClr val="111827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7472" y="3355848"/>
            <a:ext cx="548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🛡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960120" y="3355848"/>
            <a:ext cx="60807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ცნობიერება + ტექნიკური დაცვა = საუკეთესო სტრატეგია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74320" y="4206240"/>
            <a:ext cx="6858000" cy="713232"/>
          </a:xfrm>
          <a:prstGeom prst="rect">
            <a:avLst/>
          </a:prstGeom>
          <a:solidFill>
            <a:srgbClr val="111827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7472" y="4206240"/>
            <a:ext cx="548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📚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4206240"/>
            <a:ext cx="60807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კვლევა ხელს უწყობს მომხმარებელთა უსაფრთხოების გაუმჯობესებას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732520" y="4663440"/>
            <a:ext cx="256032" cy="256032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32520" y="466344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9AA"/>
                </a:solidFill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" y="27432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27432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5840" y="27432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63040" y="27432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920240" y="27432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77440" y="27432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834640" y="27432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91840" y="27432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49040" y="27432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06240" y="27432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27432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120640" y="27432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577840" y="27432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35040" y="27432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92240" y="27432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949440" y="27432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06640" y="27432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63840" y="27432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321040" y="27432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778240" y="27432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" y="128016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128016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5840" y="128016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463040" y="128016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20240" y="128016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77440" y="128016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834640" y="128016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128016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49040" y="128016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206240" y="128016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663440" y="128016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120640" y="128016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577840" y="128016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035040" y="128016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92240" y="128016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949440" y="128016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406640" y="128016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863840" y="128016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321040" y="128016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778240" y="128016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1440" y="228600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228600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005840" y="228600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463040" y="228600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920240" y="228600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377440" y="228600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834640" y="228600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291840" y="228600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749040" y="228600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206240" y="228600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663440" y="228600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120640" y="228600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577840" y="228600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035040" y="228600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492240" y="228600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949440" y="228600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406640" y="228600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863840" y="228600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321040" y="228600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778240" y="228600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91440" y="329184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48640" y="329184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1005840" y="329184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1463040" y="329184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1920240" y="329184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2377440" y="329184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2834640" y="329184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3291840" y="329184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3749040" y="329184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4206240" y="329184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4663440" y="329184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120640" y="329184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577840" y="329184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035040" y="329184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492240" y="329184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949440" y="329184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7406640" y="329184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7863840" y="329184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8321040" y="329184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8778240" y="329184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91440" y="429768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548640" y="429768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1005840" y="429768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1463040" y="429768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1920240" y="429768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2377440" y="429768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2834640" y="429768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3291840" y="429768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749040" y="429768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4206240" y="429768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4663440" y="429768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5120640" y="429768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5577840" y="429768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035040" y="429768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92240" y="429768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949440" y="429768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7406640" y="429768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863840" y="429768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8321040" y="429768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8778240" y="429768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-457200" y="-457200"/>
            <a:ext cx="3657600" cy="3657600"/>
          </a:xfrm>
          <a:prstGeom prst="ellipse">
            <a:avLst/>
          </a:prstGeom>
          <a:solidFill>
            <a:srgbClr val="00B4FF">
              <a:alpha val="10000"/>
            </a:srgbClr>
          </a:solidFill>
          <a:ln w="12700">
            <a:solidFill>
              <a:srgbClr val="00B4FF">
                <a:alpha val="10000"/>
              </a:srgbClr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6858000" y="2286000"/>
            <a:ext cx="3200400" cy="3200400"/>
          </a:xfrm>
          <a:prstGeom prst="ellipse">
            <a:avLst/>
          </a:prstGeom>
          <a:solidFill>
            <a:srgbClr val="E74C3C">
              <a:alpha val="10000"/>
            </a:srgbClr>
          </a:solidFill>
          <a:ln w="12700">
            <a:solidFill>
              <a:srgbClr val="E74C3C">
                <a:alpha val="10000"/>
              </a:srgbClr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3200400" y="73152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dirty="0">
                <a:solidFill>
                  <a:srgbClr val="000000"/>
                </a:solidFill>
              </a:rPr>
              <a:t>🙏</a:t>
            </a:r>
            <a:endParaRPr lang="en-US" sz="4200" dirty="0"/>
          </a:p>
        </p:txBody>
      </p:sp>
      <p:sp>
        <p:nvSpPr>
          <p:cNvPr id="105" name="Text 103"/>
          <p:cNvSpPr/>
          <p:nvPr/>
        </p:nvSpPr>
        <p:spPr>
          <a:xfrm>
            <a:off x="457200" y="16916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გმადლობთ ყურადღებისთვის!</a:t>
            </a:r>
            <a:endParaRPr lang="en-US" sz="3200" dirty="0"/>
          </a:p>
        </p:txBody>
      </p:sp>
      <p:sp>
        <p:nvSpPr>
          <p:cNvPr id="106" name="Shape 104"/>
          <p:cNvSpPr/>
          <p:nvPr/>
        </p:nvSpPr>
        <p:spPr>
          <a:xfrm>
            <a:off x="3200400" y="2651760"/>
            <a:ext cx="2743200" cy="27432"/>
          </a:xfrm>
          <a:prstGeom prst="rect">
            <a:avLst/>
          </a:prstGeom>
          <a:solidFill>
            <a:srgbClr val="00B4FF"/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2926080" y="2834640"/>
            <a:ext cx="3291840" cy="457200"/>
          </a:xfrm>
          <a:prstGeom prst="rect">
            <a:avLst/>
          </a:prstGeom>
          <a:solidFill>
            <a:srgbClr val="0D2137"/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2926080" y="28346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B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🔗  techop.vercel.app</a:t>
            </a:r>
            <a:endParaRPr lang="en-US" sz="1400" dirty="0"/>
          </a:p>
        </p:txBody>
      </p:sp>
      <p:sp>
        <p:nvSpPr>
          <p:cNvPr id="109" name="Text 107"/>
          <p:cNvSpPr/>
          <p:nvPr/>
        </p:nvSpPr>
        <p:spPr>
          <a:xfrm>
            <a:off x="457200" y="39319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კითხვები?</a:t>
            </a:r>
            <a:endParaRPr lang="en-US" sz="1800" dirty="0"/>
          </a:p>
        </p:txBody>
      </p:sp>
      <p:sp>
        <p:nvSpPr>
          <p:cNvPr id="110" name="Text 108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საბაკალავრო კვლევა  |  კიბერუსაფრთხოება  |  </a:t>
            </a:r>
            <a:r>
              <a:rPr lang="ka-GE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2112</TotalTime>
  <Words>827</Words>
  <Application>Microsoft Office PowerPoint</Application>
  <PresentationFormat>On-screen Show (16:9)</PresentationFormat>
  <Paragraphs>276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ფიშინგის სიმულაცია და მომხმარებელთა ცნობიერება</dc:title>
  <dc:subject>PptxGenJS Presentation</dc:subject>
  <dc:creator>PptxGenJS</dc:creator>
  <cp:lastModifiedBy>lasha gongadze</cp:lastModifiedBy>
  <cp:revision>9</cp:revision>
  <dcterms:created xsi:type="dcterms:W3CDTF">2026-06-12T08:10:26Z</dcterms:created>
  <dcterms:modified xsi:type="dcterms:W3CDTF">2026-06-19T13:43:48Z</dcterms:modified>
</cp:coreProperties>
</file>